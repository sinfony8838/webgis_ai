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Override PartName="/customXml/itemProps35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17" r:id="rId3"/>
    <p:sldId id="257" r:id="rId5"/>
    <p:sldId id="258" r:id="rId6"/>
    <p:sldId id="319" r:id="rId7"/>
    <p:sldId id="373" r:id="rId8"/>
    <p:sldId id="375" r:id="rId9"/>
    <p:sldId id="318" r:id="rId10"/>
    <p:sldId id="325" r:id="rId11"/>
    <p:sldId id="376" r:id="rId12"/>
    <p:sldId id="324" r:id="rId13"/>
    <p:sldId id="371" r:id="rId14"/>
    <p:sldId id="383" r:id="rId15"/>
    <p:sldId id="384" r:id="rId16"/>
    <p:sldId id="377" r:id="rId17"/>
    <p:sldId id="382" r:id="rId18"/>
    <p:sldId id="261" r:id="rId19"/>
    <p:sldId id="266" r:id="rId20"/>
    <p:sldId id="381" r:id="rId21"/>
    <p:sldId id="260" r:id="rId22"/>
  </p:sldIdLst>
  <p:sldSz cx="9144000" cy="5143500" type="screen16x9"/>
  <p:notesSz cx="9144000" cy="6858000"/>
  <p:defaultTextStyle>
    <a:defPPr>
      <a:defRPr lang="zh-CN"/>
    </a:defPPr>
    <a:lvl1pPr marL="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65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965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53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73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95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495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506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1C334E"/>
    <a:srgbClr val="95B3C5"/>
    <a:srgbClr val="294668"/>
    <a:srgbClr val="953735"/>
    <a:srgbClr val="336699"/>
    <a:srgbClr val="4D75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65" autoAdjust="0"/>
    <p:restoredTop sz="85353" autoAdjust="0"/>
  </p:normalViewPr>
  <p:slideViewPr>
    <p:cSldViewPr showGuides="1">
      <p:cViewPr varScale="1">
        <p:scale>
          <a:sx n="124" d="100"/>
          <a:sy n="124" d="100"/>
        </p:scale>
        <p:origin x="640" y="84"/>
      </p:cViewPr>
      <p:guideLst>
        <p:guide orient="horz" pos="1620"/>
        <p:guide pos="28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customXml" Target="../customXml/item1.xml"/><Relationship Id="rId26" Type="http://schemas.openxmlformats.org/officeDocument/2006/relationships/customXmlProps" Target="../customXml/itemProps35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322791-0DC7-486D-808E-183C5B7AAB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487A7-C346-40B4-8371-743465BAF40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9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53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3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9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49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06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Logo</a:t>
            </a:r>
            <a:r>
              <a:rPr lang="zh-CN" altLang="en-US" dirty="0"/>
              <a:t>可替换，</a:t>
            </a:r>
            <a:r>
              <a:rPr lang="en-US" altLang="zh-CN" dirty="0"/>
              <a:t>logo</a:t>
            </a:r>
            <a:r>
              <a:rPr lang="zh-CN" altLang="en-US" dirty="0"/>
              <a:t>背景色块颜色还可选择暗红色（</a:t>
            </a:r>
            <a:r>
              <a:rPr lang="en-US" altLang="zh-CN" dirty="0"/>
              <a:t>r=149 g=55 b=53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照片可根据</a:t>
            </a:r>
            <a:r>
              <a:rPr lang="en-US" altLang="zh-CN" dirty="0" err="1"/>
              <a:t>ppt</a:t>
            </a:r>
            <a:r>
              <a:rPr lang="zh-CN" altLang="en-US" dirty="0"/>
              <a:t>选题进行替换，建议图片用灰度色相或蓝色主色调</a:t>
            </a:r>
            <a:endParaRPr lang="en-US" altLang="zh-CN" dirty="0"/>
          </a:p>
          <a:p>
            <a:r>
              <a:rPr lang="zh-CN" altLang="en-US" dirty="0"/>
              <a:t>标题中年份仅为示意比例对比，可以根据选题自行设计标题关键词和内容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487A7-C346-40B4-8371-743465BAF4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大纲目录样式</a:t>
            </a:r>
            <a:r>
              <a:rPr lang="en-US" altLang="zh-CN" dirty="0"/>
              <a:t>1: </a:t>
            </a:r>
            <a:r>
              <a:rPr lang="zh-CN" altLang="en-US" dirty="0"/>
              <a:t>支持四个章节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487A7-C346-40B4-8371-743465BAF4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章节序号可压盖文本框来调节</a:t>
            </a:r>
            <a:endParaRPr lang="en-US" altLang="zh-CN" dirty="0"/>
          </a:p>
          <a:p>
            <a:r>
              <a:rPr lang="zh-CN" altLang="en-US" dirty="0"/>
              <a:t>章节装饰小图可自行找图导入压盖替换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487A7-C346-40B4-8371-743465BAF4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虚拟现实，也就是</a:t>
            </a:r>
            <a:r>
              <a:rPr lang="en-US" altLang="zh-CN" dirty="0"/>
              <a:t>VR</a:t>
            </a:r>
            <a:r>
              <a:rPr lang="zh-CN" altLang="en-US" dirty="0"/>
              <a:t>，通过综合多种技术从而构建起三维互动的沉浸式环境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487A7-C346-40B4-8371-743465BAF4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深蓝色、暗红色为强调时选用</a:t>
            </a:r>
            <a:endParaRPr lang="en-US" altLang="zh-CN" dirty="0"/>
          </a:p>
          <a:p>
            <a:r>
              <a:rPr lang="zh-CN" altLang="en-US" dirty="0"/>
              <a:t>正文字体按需加粗强调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487A7-C346-40B4-8371-743465BAF4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深蓝色、暗红色为强调时选用</a:t>
            </a:r>
            <a:endParaRPr lang="en-US" altLang="zh-CN" dirty="0"/>
          </a:p>
          <a:p>
            <a:r>
              <a:rPr lang="zh-CN" altLang="en-US" dirty="0"/>
              <a:t>正文字体按需加粗强调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487A7-C346-40B4-8371-743465BAF4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章节序号可压盖文本框来调节</a:t>
            </a:r>
            <a:endParaRPr lang="en-US" altLang="zh-CN" dirty="0"/>
          </a:p>
          <a:p>
            <a:r>
              <a:rPr lang="zh-CN" altLang="en-US" dirty="0"/>
              <a:t>章节装饰小图可自行找图导入压盖替换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487A7-C346-40B4-8371-743465BAF4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深蓝色、暗红色为强调时选用</a:t>
            </a:r>
            <a:endParaRPr lang="en-US" altLang="zh-CN" dirty="0"/>
          </a:p>
          <a:p>
            <a:r>
              <a:rPr lang="zh-CN" altLang="en-US" dirty="0"/>
              <a:t>正文字体按需加粗强调</a:t>
            </a:r>
            <a:endParaRPr lang="zh-CN" altLang="en-US" dirty="0"/>
          </a:p>
          <a:p>
            <a:pPr marL="0" marR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487A7-C346-40B4-8371-743465BAF4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深蓝色、暗红色为强调时选用</a:t>
            </a:r>
            <a:endParaRPr lang="en-US" altLang="zh-CN" dirty="0"/>
          </a:p>
          <a:p>
            <a:r>
              <a:rPr lang="zh-CN" altLang="en-US" dirty="0"/>
              <a:t>正文字体按需加粗强调</a:t>
            </a:r>
            <a:endParaRPr lang="zh-CN" altLang="en-US" dirty="0"/>
          </a:p>
          <a:p>
            <a:pPr marL="0" marR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487A7-C346-40B4-8371-743465BAF4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章节序号可压盖文本框来调节</a:t>
            </a:r>
            <a:endParaRPr lang="en-US" altLang="zh-CN" dirty="0"/>
          </a:p>
          <a:p>
            <a:r>
              <a:rPr lang="zh-CN" altLang="en-US" dirty="0"/>
              <a:t>章节装饰小图可自行找图导入压盖替换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73487A7-C346-40B4-8371-743465BAF40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深蓝色、暗红色为强调时选用</a:t>
            </a:r>
            <a:endParaRPr lang="en-US" altLang="zh-CN" dirty="0"/>
          </a:p>
          <a:p>
            <a:r>
              <a:rPr lang="zh-CN" altLang="en-US" dirty="0"/>
              <a:t>正文字体按需加粗强调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73487A7-C346-40B4-8371-743465BAF40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深蓝色、暗红色为强调时选用</a:t>
            </a:r>
            <a:endParaRPr lang="en-US" altLang="zh-CN" dirty="0"/>
          </a:p>
          <a:p>
            <a:r>
              <a:rPr lang="zh-CN" altLang="en-US" dirty="0"/>
              <a:t>正文字体按需加粗强调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73487A7-C346-40B4-8371-743465BAF40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深蓝色、暗红色为强调时选用</a:t>
            </a:r>
            <a:endParaRPr lang="en-US" altLang="zh-CN" dirty="0"/>
          </a:p>
          <a:p>
            <a:r>
              <a:rPr lang="zh-CN" altLang="en-US" dirty="0"/>
              <a:t>正文字体按需加粗强调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73487A7-C346-40B4-8371-743465BAF40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深蓝色、暗红色为强调时选用</a:t>
            </a:r>
            <a:endParaRPr lang="en-US" altLang="zh-CN" dirty="0"/>
          </a:p>
          <a:p>
            <a:r>
              <a:rPr lang="zh-CN" altLang="en-US" dirty="0"/>
              <a:t>正文字体按需加粗强调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73487A7-C346-40B4-8371-743465BAF40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章节序号可压盖文本框来调节</a:t>
            </a:r>
            <a:endParaRPr lang="en-US" altLang="zh-CN" dirty="0"/>
          </a:p>
          <a:p>
            <a:r>
              <a:rPr lang="zh-CN" altLang="en-US" dirty="0"/>
              <a:t>章节装饰小图可自行找图导入压盖替换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73487A7-C346-40B4-8371-743465BAF40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E475A33E-545C-4F33-A3B8-AE22B9BCFD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DA3BF26D-FDDF-4645-B4C6-F4EDD8CE5E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75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47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129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849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50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E475A33E-545C-4F33-A3B8-AE22B9BCFD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DA3BF26D-FDDF-4645-B4C6-F4EDD8CE5E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4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4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E475A33E-545C-4F33-A3B8-AE22B9BCFD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DA3BF26D-FDDF-4645-B4C6-F4EDD8CE5E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295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06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5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295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06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5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E475A33E-545C-4F33-A3B8-AE22B9BCFD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DA3BF26D-FDDF-4645-B4C6-F4EDD8CE5E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E475A33E-545C-4F33-A3B8-AE22B9BCFD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DA3BF26D-FDDF-4645-B4C6-F4EDD8CE5E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E475A33E-545C-4F33-A3B8-AE22B9BCFD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DA3BF26D-FDDF-4645-B4C6-F4EDD8CE5E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97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3765" indent="0">
              <a:buNone/>
              <a:defRPr sz="1000"/>
            </a:lvl3pPr>
            <a:lvl4pPr marL="1370965" indent="0">
              <a:buNone/>
              <a:defRPr sz="900"/>
            </a:lvl4pPr>
            <a:lvl5pPr marL="1827530" indent="0">
              <a:buNone/>
              <a:defRPr sz="900"/>
            </a:lvl5pPr>
            <a:lvl6pPr marL="2284730" indent="0">
              <a:buNone/>
              <a:defRPr sz="900"/>
            </a:lvl6pPr>
            <a:lvl7pPr marL="2741295" indent="0">
              <a:buNone/>
              <a:defRPr sz="900"/>
            </a:lvl7pPr>
            <a:lvl8pPr marL="3198495" indent="0">
              <a:buNone/>
              <a:defRPr sz="900"/>
            </a:lvl8pPr>
            <a:lvl9pPr marL="365506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E475A33E-545C-4F33-A3B8-AE22B9BCFD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DA3BF26D-FDDF-4645-B4C6-F4EDD8CE5E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3765" indent="0">
              <a:buNone/>
              <a:defRPr sz="2400"/>
            </a:lvl3pPr>
            <a:lvl4pPr marL="1370965" indent="0">
              <a:buNone/>
              <a:defRPr sz="2000"/>
            </a:lvl4pPr>
            <a:lvl5pPr marL="1827530" indent="0">
              <a:buNone/>
              <a:defRPr sz="2000"/>
            </a:lvl5pPr>
            <a:lvl6pPr marL="2284730" indent="0">
              <a:buNone/>
              <a:defRPr sz="2000"/>
            </a:lvl6pPr>
            <a:lvl7pPr marL="2741295" indent="0">
              <a:buNone/>
              <a:defRPr sz="2000"/>
            </a:lvl7pPr>
            <a:lvl8pPr marL="3198495" indent="0">
              <a:buNone/>
              <a:defRPr sz="2000"/>
            </a:lvl8pPr>
            <a:lvl9pPr marL="365506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31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3765" indent="0">
              <a:buNone/>
              <a:defRPr sz="1000"/>
            </a:lvl3pPr>
            <a:lvl4pPr marL="1370965" indent="0">
              <a:buNone/>
              <a:defRPr sz="900"/>
            </a:lvl4pPr>
            <a:lvl5pPr marL="1827530" indent="0">
              <a:buNone/>
              <a:defRPr sz="900"/>
            </a:lvl5pPr>
            <a:lvl6pPr marL="2284730" indent="0">
              <a:buNone/>
              <a:defRPr sz="900"/>
            </a:lvl6pPr>
            <a:lvl7pPr marL="2741295" indent="0">
              <a:buNone/>
              <a:defRPr sz="900"/>
            </a:lvl7pPr>
            <a:lvl8pPr marL="3198495" indent="0">
              <a:buNone/>
              <a:defRPr sz="900"/>
            </a:lvl8pPr>
            <a:lvl9pPr marL="365506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E475A33E-545C-4F33-A3B8-AE22B9BCFD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DA3BF26D-FDDF-4645-B4C6-F4EDD8CE5E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E475A33E-545C-4F33-A3B8-AE22B9BCFD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DA3BF26D-FDDF-4645-B4C6-F4EDD8CE5E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E475A33E-545C-4F33-A3B8-AE22B9BCFD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DA3BF26D-FDDF-4645-B4C6-F4EDD8CE5E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376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315" indent="-285750" algn="l" defTabSz="913765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36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930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130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69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89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460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660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7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06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microsoft.com/office/2007/relationships/hdphoto" Target="../media/image7.wdp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microsoft.com/office/2007/relationships/hdphoto" Target="../media/image7.wdp"/><Relationship Id="rId2" Type="http://schemas.openxmlformats.org/officeDocument/2006/relationships/image" Target="../media/image6.pn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microsoft.com/office/2007/relationships/hdphoto" Target="../media/image12.wdp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jpeg"/><Relationship Id="rId8" Type="http://schemas.openxmlformats.org/officeDocument/2006/relationships/tags" Target="../tags/tag2.xml"/><Relationship Id="rId7" Type="http://schemas.openxmlformats.org/officeDocument/2006/relationships/image" Target="../media/image16.jpeg"/><Relationship Id="rId6" Type="http://schemas.openxmlformats.org/officeDocument/2006/relationships/image" Target="../media/image15.jpeg"/><Relationship Id="rId5" Type="http://schemas.openxmlformats.org/officeDocument/2006/relationships/tags" Target="../tags/tag1.xml"/><Relationship Id="rId4" Type="http://schemas.microsoft.com/office/2007/relationships/hdphoto" Target="../media/image12.wdp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microsoft.com/office/2007/relationships/hdphoto" Target="../media/image7.wdp"/><Relationship Id="rId2" Type="http://schemas.openxmlformats.org/officeDocument/2006/relationships/image" Target="../media/image6.png"/><Relationship Id="rId1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microsoft.com/office/2007/relationships/hdphoto" Target="../media/image7.wdp"/><Relationship Id="rId2" Type="http://schemas.openxmlformats.org/officeDocument/2006/relationships/image" Target="../media/image6.png"/><Relationship Id="rId1" Type="http://schemas.openxmlformats.org/officeDocument/2006/relationships/image" Target="../media/image2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4.png"/><Relationship Id="rId11" Type="http://schemas.openxmlformats.org/officeDocument/2006/relationships/tags" Target="../tags/tag11.xml"/><Relationship Id="rId10" Type="http://schemas.openxmlformats.org/officeDocument/2006/relationships/image" Target="../media/image23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4" Type="http://schemas.openxmlformats.org/officeDocument/2006/relationships/notesSlide" Target="../notesSlides/notesSlide12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4.png"/><Relationship Id="rId11" Type="http://schemas.openxmlformats.org/officeDocument/2006/relationships/tags" Target="../tags/tag20.xml"/><Relationship Id="rId10" Type="http://schemas.openxmlformats.org/officeDocument/2006/relationships/image" Target="../media/image23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4" Type="http://schemas.openxmlformats.org/officeDocument/2006/relationships/notesSlide" Target="../notesSlides/notesSlide13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4.png"/><Relationship Id="rId11" Type="http://schemas.openxmlformats.org/officeDocument/2006/relationships/tags" Target="../tags/tag29.xml"/><Relationship Id="rId10" Type="http://schemas.openxmlformats.org/officeDocument/2006/relationships/image" Target="../media/image23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image" Target="../media/image25.png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microsoft.com/office/2007/relationships/hdphoto" Target="../media/image12.wdp"/><Relationship Id="rId2" Type="http://schemas.openxmlformats.org/officeDocument/2006/relationships/image" Target="../media/image11.png"/><Relationship Id="rId12" Type="http://schemas.openxmlformats.org/officeDocument/2006/relationships/notesSlide" Target="../notesSlides/notesSlide14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34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microsoft.com/office/2007/relationships/hdphoto" Target="../media/image7.wdp"/><Relationship Id="rId2" Type="http://schemas.openxmlformats.org/officeDocument/2006/relationships/image" Target="../media/image6.png"/><Relationship Id="rId1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jpeg"/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doi.org/10.1007/s11432-009-0066-0" TargetMode="Externa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jpe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86105" y="4587974"/>
            <a:ext cx="850900" cy="274320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r>
              <a:rPr altLang="zh-CN" dirty="0" lang="en-US" sz="1200">
                <a:solidFill>
                  <a:prstClr val="black">
                    <a:lumMod val="65000"/>
                    <a:lumOff val="35000"/>
                  </a:prstClr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2026-5</a:t>
            </a:r>
            <a:endParaRPr altLang="en-US" dirty="0" lang="zh-CN" sz="1200">
              <a:solidFill>
                <a:prstClr val="black">
                  <a:lumMod val="65000"/>
                  <a:lumOff val="35000"/>
                </a:prstClr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43608" y="1451017"/>
            <a:ext cx="6817787" cy="523168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pPr algn="l"/>
            <a:r>
              <a:rPr altLang="zh-CN" b="1" dirty="0" lang="en-US" sz="2800">
                <a:solidFill>
                  <a:srgbClr val="294668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GeoBot WebGIS-AI</a:t>
            </a:r>
            <a:r>
              <a:rPr altLang="en-US" b="1" dirty="0" lang="zh-CN" sz="2800">
                <a:solidFill>
                  <a:srgbClr val="294668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面向地理课堂的</a:t>
            </a:r>
            <a:r>
              <a:rPr altLang="zh-CN" b="1" dirty="0" lang="en-US" sz="2800">
                <a:solidFill>
                  <a:srgbClr val="294668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实时交互地图演示</a:t>
            </a:r>
            <a:r>
              <a:rPr altLang="en-US" b="1" dirty="0" lang="zh-CN" sz="2800">
                <a:solidFill>
                  <a:srgbClr val="294668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与智能助教</a:t>
            </a:r>
            <a:r>
              <a:rPr altLang="zh-CN" b="1" dirty="0" lang="en-US" sz="2800">
                <a:solidFill>
                  <a:srgbClr val="294668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负责人：张程祎</a:t>
            </a:r>
            <a:r>
              <a:rPr altLang="en-US" b="1" dirty="0" lang="zh-CN" sz="2800">
                <a:solidFill>
                  <a:srgbClr val="294668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指导教师：李治洪</a:t>
            </a:r>
            <a:endParaRPr altLang="en-US" b="1" dirty="0" lang="zh-CN" sz="2800">
              <a:solidFill>
                <a:srgbClr val="294668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19205" y="3847137"/>
            <a:ext cx="2717800" cy="769389"/>
          </a:xfrm>
          <a:prstGeom prst="rect">
            <a:avLst/>
          </a:prstGeom>
          <a:noFill/>
        </p:spPr>
        <p:txBody>
          <a:bodyPr bIns="45694" lIns="91388" rIns="91388" rtlCol="0" tIns="45694" wrap="square">
            <a:spAutoFit/>
          </a:bodyPr>
          <a:lstStyle/>
          <a:p>
            <a:pPr algn="r"/>
            <a:r>
              <a:rPr altLang="en-US" b="1" dirty="0" lang="zh-CN" sz="1100">
                <a:solidFill>
                  <a:prstClr val="black">
                    <a:lumMod val="65000"/>
                    <a:lumOff val="35000"/>
                  </a:prstClr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地理科学学院｜地理信息科学</a:t>
            </a:r>
            <a:endParaRPr altLang="en-US" b="1" dirty="0" lang="zh-CN" sz="1100">
              <a:solidFill>
                <a:prstClr val="black">
                  <a:lumMod val="65000"/>
                  <a:lumOff val="35000"/>
                </a:prstClr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r"/>
            <a:r>
              <a:rPr altLang="en-US" b="1" dirty="0" lang="zh-CN" sz="1100">
                <a:solidFill>
                  <a:prstClr val="black">
                    <a:lumMod val="65000"/>
                    <a:lumOff val="35000"/>
                  </a:prstClr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zh-CN" b="1" dirty="0" lang="en-US" sz="1100">
                <a:solidFill>
                  <a:prstClr val="black">
                    <a:lumMod val="65000"/>
                    <a:lumOff val="35000"/>
                  </a:prstClr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100">
                <a:solidFill>
                  <a:prstClr val="black">
                    <a:lumMod val="65000"/>
                    <a:lumOff val="35000"/>
                  </a:prstClr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zh-CN" b="1" dirty="0" lang="en-US" sz="1100">
              <a:solidFill>
                <a:prstClr val="black">
                  <a:lumMod val="65000"/>
                  <a:lumOff val="35000"/>
                </a:prstClr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r"/>
            <a:r>
              <a:rPr altLang="en-US" b="1" dirty="0" lang="zh-CN" sz="1100">
                <a:solidFill>
                  <a:prstClr val="black">
                    <a:lumMod val="65000"/>
                    <a:lumOff val="35000"/>
                  </a:prstClr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b="1" dirty="0" lang="zh-CN" sz="1100">
              <a:solidFill>
                <a:prstClr val="black">
                  <a:lumMod val="65000"/>
                  <a:lumOff val="35000"/>
                </a:prstClr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r"/>
            <a:endParaRPr altLang="en-US" b="1" dirty="0" lang="zh-CN" sz="1100">
              <a:solidFill>
                <a:prstClr val="black">
                  <a:lumMod val="65000"/>
                  <a:lumOff val="35000"/>
                </a:prstClr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604400" y="2174400"/>
            <a:ext cx="1530000" cy="1530000"/>
          </a:xfrm>
          <a:prstGeom prst="rect">
            <a:avLst/>
          </a:prstGeom>
          <a:solidFill>
            <a:srgbClr val="2946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39752" y="1955039"/>
            <a:ext cx="1513840" cy="367030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r>
              <a:rPr altLang="zh-CN" b="1" dirty="0" lang="en-US">
                <a:solidFill>
                  <a:schemeClr val="bg1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目录</a:t>
            </a:r>
            <a:r>
              <a:rPr altLang="en-US" b="1" dirty="0" lang="zh-CN">
                <a:solidFill>
                  <a:schemeClr val="bg1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01</a:t>
            </a:r>
            <a:endParaRPr altLang="en-US" b="1" dirty="0" lang="zh-CN">
              <a:solidFill>
                <a:schemeClr val="bg1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39253" y="1955039"/>
            <a:ext cx="1445895" cy="367030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r>
              <a:rPr altLang="zh-CN" b="1" dirty="0" lang="en-US">
                <a:solidFill>
                  <a:srgbClr val="294668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项目背景与定位</a:t>
            </a:r>
            <a:r>
              <a:rPr altLang="en-US" b="1" dirty="0" lang="zh-CN">
                <a:solidFill>
                  <a:srgbClr val="294668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02</a:t>
            </a:r>
            <a:endParaRPr altLang="en-US" b="1" dirty="0" lang="zh-CN">
              <a:solidFill>
                <a:srgbClr val="294668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23852" y="3363458"/>
            <a:ext cx="2360295" cy="367030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r>
              <a:rPr altLang="zh-CN" b="1" dirty="0" lang="en-US">
                <a:solidFill>
                  <a:srgbClr val="294668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总体目标与技术路线</a:t>
            </a:r>
            <a:r>
              <a:rPr altLang="en-US" b="1" dirty="0" lang="zh-CN">
                <a:solidFill>
                  <a:srgbClr val="294668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03</a:t>
            </a:r>
            <a:endParaRPr altLang="en-US" b="1" dirty="0" lang="zh-CN">
              <a:solidFill>
                <a:srgbClr val="294668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04048" y="3435848"/>
            <a:ext cx="1445895" cy="367030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r>
              <a:rPr altLang="zh-CN" b="1" dirty="0" lang="en-US">
                <a:solidFill>
                  <a:schemeClr val="bg1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已取得进展</a:t>
            </a:r>
            <a:r>
              <a:rPr altLang="en-US" b="1" dirty="0" lang="zh-CN">
                <a:solidFill>
                  <a:schemeClr val="bg1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04</a:t>
            </a:r>
            <a:endParaRPr altLang="en-US" b="1" dirty="0" lang="zh-CN">
              <a:solidFill>
                <a:schemeClr val="bg1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62472" y="2752346"/>
            <a:ext cx="1807210" cy="582295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>
            <a:defPPr>
              <a:defRPr lang="zh-CN"/>
            </a:defPPr>
            <a:lvl1pPr>
              <a:defRPr b="1" sz="2400">
                <a:solidFill>
                  <a:srgbClr val="294668"/>
                </a:solidFill>
                <a:effectLst>
                  <a:outerShdw algn="tl" blurRad="38100" dir="2400000" dist="76200" rotWithShape="0">
                    <a:schemeClr val="bg1">
                      <a:alpha val="69000"/>
                    </a:schemeClr>
                  </a:outerShdw>
                </a:effectLst>
                <a:latin charset="-122" panose="020B0503020204020204" pitchFamily="34" typeface="微软雅黑"/>
                <a:ea charset="-122" panose="020B0503020204020204" pitchFamily="34" typeface="微软雅黑"/>
              </a:defRPr>
            </a:lvl1pPr>
          </a:lstStyle>
          <a:p>
            <a:r>
              <a:rPr altLang="en-US" dirty="0" lang="zh-CN" sz="3200"/>
              <a:t>项目背景与定位</a:t>
            </a:r>
            <a:endParaRPr altLang="en-US" dirty="0" lang="zh-CN" sz="3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0732" y="2089363"/>
            <a:ext cx="1752298" cy="1785052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r>
              <a:rPr altLang="zh-CN" dirty="0" lang="en-US" sz="11000">
                <a:solidFill>
                  <a:schemeClr val="bg1"/>
                </a:solidFill>
                <a:latin charset="0" panose="020B0604020202020204" pitchFamily="34" typeface="Arial"/>
                <a:ea charset="-122" panose="020B0503020204020204" pitchFamily="34" typeface="微软雅黑"/>
                <a:cs charset="0" panose="020B0604020202020204" pitchFamily="34" typeface="Arial"/>
              </a:rPr>
              <a:t>01</a:t>
            </a:r>
            <a:endParaRPr altLang="en-US" dirty="0" lang="zh-CN" sz="11000">
              <a:solidFill>
                <a:schemeClr val="bg1"/>
              </a:solidFill>
              <a:latin charset="0" panose="020B0604020202020204" pitchFamily="34" typeface="Arial"/>
              <a:ea charset="-122" panose="020B0503020204020204" pitchFamily="34" typeface="微软雅黑"/>
              <a:cs charset="0" panose="020B0604020202020204" pitchFamily="34"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838" y="276665"/>
            <a:ext cx="562870" cy="461612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r>
              <a:rPr altLang="zh-CN" b="1" dirty="0" lang="en-US" sz="2400">
                <a:solidFill>
                  <a:schemeClr val="bg1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01 项目背景与定位</a:t>
            </a:r>
            <a:endParaRPr altLang="en-US" b="1" dirty="0" lang="zh-CN" sz="2400">
              <a:solidFill>
                <a:schemeClr val="bg1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03648" y="321068"/>
            <a:ext cx="1096010" cy="367030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r>
              <a:rPr altLang="en-US" b="1" dirty="0" lang="zh-CN">
                <a:solidFill>
                  <a:srgbClr val="294668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项目目标</a:t>
            </a:r>
            <a:endParaRPr altLang="en-US" b="1" dirty="0" lang="zh-CN">
              <a:solidFill>
                <a:schemeClr val="accent2">
                  <a:lumMod val="75000"/>
                </a:schemeClr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89192" y="1359998"/>
            <a:ext cx="725805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altLang="en-US" b="1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降低 GIS 使用门槛，让教师在课堂中完成地图观察、讲解与分析。</a:t>
            </a:r>
            <a:r>
              <a:rPr altLang="zh-CN" b="1" dirty="0" lang="en-US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课堂真实痛点</a:t>
            </a:r>
            <a:r>
              <a:rPr altLang="en-US" b="1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地理课堂更需要即时、可视、可操作的大屏地图演示。</a:t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产品定位</a:t>
            </a:r>
            <a:r>
              <a:rPr altLang="en-US" b="1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面向地理课堂的 WebGIS 实时交互系统。</a:t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600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89192" y="1973368"/>
            <a:ext cx="71691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altLang="en-US" b="1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600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489192" y="4374782"/>
            <a:ext cx="8064896" cy="50405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/>
            <a:r>
              <a:rPr altLang="en-US" dirty="0" lang="zh-CN" sz="18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8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8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8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8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800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23850" y="1009650"/>
            <a:ext cx="2257425" cy="367030"/>
          </a:xfrm>
          <a:prstGeom prst="rect">
            <a:avLst/>
          </a:prstGeom>
        </p:spPr>
        <p:txBody>
          <a:bodyPr bIns="45694" lIns="91388" rIns="91388" tIns="45694" wrap="square">
            <a:spAutoFit/>
          </a:bodyPr>
          <a:lstStyle/>
          <a:p>
            <a:pPr algn="just">
              <a:spcBef>
                <a:spcPts val="800"/>
              </a:spcBef>
            </a:pPr>
            <a:r>
              <a:rPr altLang="en-US" b="1" dirty="0" lang="zh-CN">
                <a:solidFill>
                  <a:srgbClr val="294668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b="1" dirty="0" lang="zh-CN">
              <a:solidFill>
                <a:srgbClr val="294668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838" y="276665"/>
            <a:ext cx="562870" cy="461612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r>
              <a:rPr altLang="zh-CN" b="1" dirty="0" lang="en-US" sz="2400">
                <a:solidFill>
                  <a:schemeClr val="bg1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01 新产品定位</a:t>
            </a:r>
            <a:endParaRPr altLang="en-US" b="1" dirty="0" lang="zh-CN" sz="2400">
              <a:solidFill>
                <a:schemeClr val="bg1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03648" y="321068"/>
            <a:ext cx="1096010" cy="367030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r>
              <a:rPr altLang="en-US" b="1" dirty="0" lang="zh-CN">
                <a:solidFill>
                  <a:srgbClr val="294668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单教师本机部署</a:t>
            </a:r>
            <a:endParaRPr altLang="en-US" b="1" dirty="0" lang="zh-CN">
              <a:solidFill>
                <a:schemeClr val="accent2">
                  <a:lumMod val="75000"/>
                </a:schemeClr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23850" y="1009650"/>
            <a:ext cx="2257425" cy="367030"/>
          </a:xfrm>
          <a:prstGeom prst="rect">
            <a:avLst/>
          </a:prstGeom>
        </p:spPr>
        <p:txBody>
          <a:bodyPr bIns="45694" lIns="91388" rIns="91388" tIns="45694" wrap="square">
            <a:spAutoFit/>
          </a:bodyPr>
          <a:lstStyle/>
          <a:p>
            <a:pPr algn="just">
              <a:spcBef>
                <a:spcPts val="800"/>
              </a:spcBef>
            </a:pPr>
            <a:r>
              <a:rPr altLang="en-US" b="1" dirty="0" lang="zh-CN">
                <a:solidFill>
                  <a:srgbClr val="294668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面向课堂大屏，不依赖云端协同。</a:t>
            </a:r>
            <a:endParaRPr altLang="en-US" b="1" dirty="0" lang="zh-CN">
              <a:solidFill>
                <a:srgbClr val="294668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147945" y="1635760"/>
            <a:ext cx="3519805" cy="12604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altLang="zh-CN" dirty="0" lang="en-US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全屏地图主舞台</a:t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控件以浅灰透明面板环绕四周，减少遮挡。</a:t>
            </a:r>
            <a:endParaRPr altLang="en-US" dirty="0" lang="zh-CN" sz="1600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72726" y="1500307"/>
            <a:ext cx="4023677" cy="1531379"/>
            <a:chOff x="623" y="3596"/>
            <a:chExt cx="7097" cy="2700"/>
          </a:xfrm>
        </p:grpSpPr>
      </p:grpSp>
      <p:sp>
        <p:nvSpPr>
          <p:cNvPr id="11" name="矩形 10"/>
          <p:cNvSpPr/>
          <p:nvPr/>
        </p:nvSpPr>
        <p:spPr>
          <a:xfrm>
            <a:off x="934720" y="3363595"/>
            <a:ext cx="3773170" cy="12604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智能助教悬浮</a:t>
            </a:r>
            <a:r>
              <a:rPr altLang="zh-CN" dirty="0" lang="en-US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支持读图讲解、辅助制图、检索和课堂提问。</a:t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后台 GIS 分析</a:t>
            </a:r>
            <a:r>
              <a:rPr altLang="en-US" b="1" dirty="0" lang="zh-CN" sz="1600">
                <a:solidFill>
                  <a:srgbClr val="FF0000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通过工作流封装常用空间分析任务，不干扰课堂主界面。</a:t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600">
                <a:solidFill>
                  <a:srgbClr val="FF0000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600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838" y="276665"/>
            <a:ext cx="562870" cy="461612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r>
              <a:rPr altLang="zh-CN" b="1" dirty="0" lang="en-US" sz="2400">
                <a:solidFill>
                  <a:schemeClr val="bg1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01 拟解决的关键问题</a:t>
            </a:r>
            <a:endParaRPr altLang="en-US" b="1" dirty="0" lang="zh-CN" sz="2400">
              <a:solidFill>
                <a:schemeClr val="bg1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03648" y="321068"/>
            <a:ext cx="1096010" cy="367030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r>
              <a:rPr altLang="en-US" b="1" dirty="0" lang="zh-CN">
                <a:solidFill>
                  <a:srgbClr val="294668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自然语言如何稳定转成地图动作？</a:t>
            </a:r>
            <a:endParaRPr altLang="en-US" b="1" dirty="0" lang="zh-CN">
              <a:solidFill>
                <a:schemeClr val="accent2">
                  <a:lumMod val="75000"/>
                </a:schemeClr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23850" y="1009650"/>
            <a:ext cx="2257425" cy="367030"/>
          </a:xfrm>
          <a:prstGeom prst="rect">
            <a:avLst/>
          </a:prstGeom>
        </p:spPr>
        <p:txBody>
          <a:bodyPr bIns="45694" lIns="91388" rIns="91388" tIns="45694" wrap="square">
            <a:spAutoFit/>
          </a:bodyPr>
          <a:lstStyle/>
          <a:p>
            <a:pPr algn="just">
              <a:spcBef>
                <a:spcPts val="800"/>
              </a:spcBef>
            </a:pPr>
            <a:r>
              <a:rPr altLang="en-US" b="1" dirty="0" lang="zh-CN">
                <a:solidFill>
                  <a:srgbClr val="294668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当前地图画面如何被 AI 理解并讲解？</a:t>
            </a:r>
            <a:endParaRPr altLang="en-US" b="1" dirty="0" lang="zh-CN">
              <a:solidFill>
                <a:srgbClr val="294668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23850" y="1614806"/>
            <a:ext cx="8568630" cy="3186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altLang="en-US" b="1" dirty="0" lang="zh-CN" sz="1800">
                <a:solidFill>
                  <a:srgbClr val="294668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教师资料如何沉淀为可检索知识库？</a:t>
            </a:r>
            <a:endParaRPr altLang="en-US" b="1" dirty="0" lang="zh-CN" sz="1800">
              <a:solidFill>
                <a:srgbClr val="294668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l" indent="-285750" marL="285750">
              <a:buFont charset="0" panose="05000000000000000000" typeface="Wingdings"/>
              <a:buChar char="l"/>
            </a:pP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地图交互与后台分析如何形成闭环？</a:t>
            </a:r>
            <a:endParaRPr altLang="en-US" dirty="0" lang="zh-CN" sz="1600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lvl="1"/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系统如何保证本地可用、可控、可演示？</a:t>
            </a:r>
            <a:r>
              <a:rPr altLang="zh-CN" dirty="0" lang="en-US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zh-CN" dirty="0" lang="en-US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600">
                <a:solidFill>
                  <a:srgbClr val="FF0000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6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600">
                <a:solidFill>
                  <a:srgbClr val="FF0000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zh-CN" dirty="0" lang="en-US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600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lvl="1"/>
            <a:r>
              <a:rPr altLang="zh-CN" dirty="0" lang="en-US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zh-CN" b="1" dirty="0" lang="en-US" sz="1600">
                <a:solidFill>
                  <a:srgbClr val="FF0000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zh-CN" dirty="0" lang="en-US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zh-CN" dirty="0" lang="en-US" sz="1600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lvl="1"/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zh-CN" dirty="0" lang="en-US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600">
                <a:solidFill>
                  <a:srgbClr val="FF0000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6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600">
                <a:solidFill>
                  <a:srgbClr val="FF0000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zh-CN" dirty="0" lang="en-US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600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l" indent="-285750" marL="285750">
              <a:buFont charset="0" panose="05000000000000000000" typeface="Wingdings"/>
              <a:buChar char="l"/>
            </a:pP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600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l" indent="0" lvl="1">
              <a:buFont charset="0" panose="05000000000000000000" typeface="Wingdings"/>
              <a:buNone/>
            </a:pP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zh-CN" dirty="0" lang="en-US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600">
                <a:solidFill>
                  <a:srgbClr val="FF0000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600">
                <a:solidFill>
                  <a:srgbClr val="FF0000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zh-CN" dirty="0" lang="en-US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zh-CN" dirty="0" lang="en-US" sz="1600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l" indent="0" lvl="1">
              <a:buFont charset="0" panose="05000000000000000000" typeface="Wingdings"/>
              <a:buNone/>
            </a:pP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zh-CN" dirty="0" lang="en-US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600">
                <a:solidFill>
                  <a:srgbClr val="FF0000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b="1" dirty="0" lang="zh-CN" sz="1600">
              <a:solidFill>
                <a:srgbClr val="FF0000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1126601" y="4308665"/>
            <a:ext cx="6963128" cy="50405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r>
              <a:rPr altLang="en-US" b="1" dirty="0" lang="zh-CN" sz="18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b="1" dirty="0" lang="zh-CN" sz="1800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62472" y="2752346"/>
            <a:ext cx="1807210" cy="582295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>
            <a:defPPr>
              <a:defRPr lang="zh-CN"/>
            </a:defPPr>
            <a:lvl1pPr>
              <a:defRPr b="1" sz="2400">
                <a:solidFill>
                  <a:srgbClr val="294668"/>
                </a:solidFill>
                <a:effectLst>
                  <a:outerShdw algn="tl" blurRad="38100" dir="2400000" dist="76200" rotWithShape="0">
                    <a:schemeClr val="bg1">
                      <a:alpha val="69000"/>
                    </a:schemeClr>
                  </a:outerShdw>
                </a:effectLst>
                <a:latin charset="-122" panose="020B0503020204020204" pitchFamily="34" typeface="微软雅黑"/>
                <a:ea charset="-122" panose="020B0503020204020204" pitchFamily="34" typeface="微软雅黑"/>
              </a:defRPr>
            </a:lvl1pPr>
          </a:lstStyle>
          <a:p>
            <a:r>
              <a:rPr altLang="en-US" dirty="0" lang="zh-CN" sz="3200"/>
              <a:t>总体目标与技术路线</a:t>
            </a:r>
            <a:endParaRPr altLang="en-US" dirty="0" lang="zh-CN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8724" y="2089363"/>
            <a:ext cx="1752298" cy="1785052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r>
              <a:rPr altLang="zh-CN" dirty="0" lang="en-US" sz="11000">
                <a:solidFill>
                  <a:schemeClr val="bg1"/>
                </a:solidFill>
                <a:latin charset="0" panose="020B0604020202020204" pitchFamily="34" typeface="Arial"/>
                <a:ea charset="-122" panose="020B0503020204020204" pitchFamily="34" typeface="微软雅黑"/>
                <a:cs charset="0" panose="020B0604020202020204" pitchFamily="34" typeface="Arial"/>
              </a:rPr>
              <a:t>02</a:t>
            </a:r>
            <a:endParaRPr altLang="en-US" dirty="0" lang="zh-CN" sz="11000">
              <a:solidFill>
                <a:schemeClr val="bg1"/>
              </a:solidFill>
              <a:latin charset="0" panose="020B0604020202020204" pitchFamily="34" typeface="Arial"/>
              <a:ea charset="-122" panose="020B0503020204020204" pitchFamily="34" typeface="微软雅黑"/>
              <a:cs charset="0" panose="020B0604020202020204" pitchFamily="34"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838" y="276665"/>
            <a:ext cx="562870" cy="461612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r>
              <a:rPr altLang="zh-CN" b="1" dirty="0" lang="en-US" sz="2400">
                <a:solidFill>
                  <a:schemeClr val="bg1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02 总体架构</a:t>
            </a:r>
            <a:endParaRPr altLang="en-US" b="1" dirty="0" lang="zh-CN" sz="2400">
              <a:solidFill>
                <a:schemeClr val="bg1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03648" y="321068"/>
            <a:ext cx="1096010" cy="367030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r>
              <a:rPr altLang="en-US" b="1" dirty="0" lang="zh-CN">
                <a:solidFill>
                  <a:srgbClr val="294668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课堂模式</a:t>
            </a:r>
            <a:endParaRPr altLang="en-US" b="1" dirty="0" lang="zh-CN">
              <a:solidFill>
                <a:schemeClr val="accent2">
                  <a:lumMod val="75000"/>
                </a:schemeClr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23850" y="1009650"/>
            <a:ext cx="4039235" cy="367030"/>
          </a:xfrm>
          <a:prstGeom prst="rect">
            <a:avLst/>
          </a:prstGeom>
        </p:spPr>
        <p:txBody>
          <a:bodyPr bIns="45694" lIns="91388" rIns="91388" tIns="45694" wrap="square">
            <a:spAutoFit/>
          </a:bodyPr>
          <a:lstStyle/>
          <a:p>
            <a:pPr algn="just">
              <a:spcBef>
                <a:spcPts val="800"/>
              </a:spcBef>
            </a:pPr>
            <a:r>
              <a:rPr altLang="en-US" b="1" dirty="0" lang="zh-CN">
                <a:solidFill>
                  <a:srgbClr val="294668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React + TypeScript + Vite + OpenLayers 构建全屏 WebGIS。</a:t>
            </a:r>
            <a:endParaRPr altLang="zh-CN" dirty="0" lang="en-US" sz="1600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3849" y="1445713"/>
            <a:ext cx="8568630" cy="933589"/>
          </a:xfrm>
          <a:prstGeom prst="rect">
            <a:avLst/>
          </a:prstGeom>
          <a:noFill/>
        </p:spPr>
        <p:txBody>
          <a:bodyPr anchor="t" rtlCol="0" wrap="square">
            <a:spAutoFit/>
          </a:bodyPr>
          <a:lstStyle/>
          <a:p>
            <a:pPr algn="just" indent="-285750" marL="285750">
              <a:spcBef>
                <a:spcPts val="800"/>
              </a:spcBef>
              <a:buClrTx/>
              <a:buSzTx/>
              <a:buFont charset="2" panose="05000000000000000000" pitchFamily="2" typeface="Wingdings"/>
              <a:buChar char="l"/>
            </a:pPr>
            <a:r>
              <a:rPr altLang="en-US" b="1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后端运行时</a:t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FastAPI 本地服务，管理项目、图层、任务流和 artifact。</a:t>
            </a:r>
            <a:endParaRPr altLang="zh-CN" dirty="0" lang="en-US" sz="1600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just" indent="-285750" marL="285750">
              <a:spcBef>
                <a:spcPts val="800"/>
              </a:spcBef>
              <a:buClrTx/>
              <a:buSzTx/>
              <a:buFont charset="2" panose="05000000000000000000" pitchFamily="2" typeface="Wingdings"/>
              <a:buChar char="l"/>
            </a:pP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AI 助教</a:t>
            </a:r>
            <a:r>
              <a:rPr altLang="en-US" b="1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MiniMax 文本规划优先，规则引擎兜底，输出讲解或地图动作。</a:t>
            </a:r>
            <a:endParaRPr altLang="zh-CN" dirty="0" lang="en-US" sz="1600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849" y="2514544"/>
            <a:ext cx="4039235" cy="367030"/>
          </a:xfrm>
          <a:prstGeom prst="rect">
            <a:avLst/>
          </a:prstGeom>
        </p:spPr>
        <p:txBody>
          <a:bodyPr bIns="45694" lIns="91388" rIns="91388" tIns="45694" wrap="square">
            <a:spAutoFit/>
          </a:bodyPr>
          <a:lstStyle/>
          <a:p>
            <a:pPr algn="just">
              <a:spcBef>
                <a:spcPts val="800"/>
              </a:spcBef>
            </a:pPr>
            <a:r>
              <a:rPr altLang="en-US" b="1" dirty="0" lang="zh-CN">
                <a:solidFill>
                  <a:srgbClr val="294668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后台工作流</a:t>
            </a:r>
            <a:endParaRPr altLang="en-US" b="1" dirty="0" lang="zh-CN">
              <a:solidFill>
                <a:srgbClr val="294668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3849" y="2931790"/>
            <a:ext cx="5110480" cy="1426031"/>
          </a:xfrm>
          <a:prstGeom prst="rect">
            <a:avLst/>
          </a:prstGeom>
          <a:noFill/>
        </p:spPr>
        <p:txBody>
          <a:bodyPr anchor="t" rtlCol="0" wrap="square">
            <a:spAutoFit/>
          </a:bodyPr>
          <a:lstStyle/>
          <a:p>
            <a:pPr algn="just" indent="-285750" marL="285750">
              <a:spcBef>
                <a:spcPts val="800"/>
              </a:spcBef>
              <a:buClrTx/>
              <a:buSzTx/>
              <a:buFont charset="2" panose="05000000000000000000" pitchFamily="2" typeface="Wingdings"/>
              <a:buChar char="l"/>
            </a:pP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封装分析、统计、导出和任务状态推送能力。</a:t>
            </a:r>
            <a:r>
              <a:rPr altLang="en-US" b="1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zh-CN" b="1" dirty="0" lang="en-US" sz="1600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just" indent="-285750" marL="285750">
              <a:spcBef>
                <a:spcPts val="800"/>
              </a:spcBef>
              <a:buClrTx/>
              <a:buSzTx/>
              <a:buFont charset="2" panose="05000000000000000000" pitchFamily="2" typeface="Wingdings"/>
              <a:buChar char="l"/>
            </a:pP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6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zh-CN" b="1" dirty="0" lang="en-US" sz="1600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838" y="276665"/>
            <a:ext cx="562870" cy="461612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r>
              <a:rPr altLang="zh-CN" b="1" dirty="0" lang="en-US" sz="2400">
                <a:solidFill>
                  <a:schemeClr val="bg1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02 核心工作流</a:t>
            </a:r>
            <a:endParaRPr altLang="en-US" b="1" dirty="0" lang="zh-CN" sz="2400">
              <a:solidFill>
                <a:schemeClr val="bg1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03648" y="321068"/>
            <a:ext cx="1096010" cy="367030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r>
              <a:rPr altLang="en-US" b="1" dirty="0" lang="zh-CN">
                <a:solidFill>
                  <a:srgbClr val="294668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教师输入</a:t>
            </a:r>
            <a:endParaRPr altLang="en-US" b="1" dirty="0" lang="zh-CN">
              <a:solidFill>
                <a:schemeClr val="accent2">
                  <a:lumMod val="75000"/>
                </a:schemeClr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23850" y="1009650"/>
            <a:ext cx="4039235" cy="367030"/>
          </a:xfrm>
          <a:prstGeom prst="rect">
            <a:avLst/>
          </a:prstGeom>
        </p:spPr>
        <p:txBody>
          <a:bodyPr bIns="45694" lIns="91388" rIns="91388" tIns="45694" wrap="square">
            <a:spAutoFit/>
          </a:bodyPr>
          <a:lstStyle/>
          <a:p>
            <a:pPr algn="just">
              <a:spcBef>
                <a:spcPts val="800"/>
              </a:spcBef>
            </a:pPr>
            <a:r>
              <a:rPr altLang="en-US" b="1" dirty="0" lang="zh-CN">
                <a:solidFill>
                  <a:srgbClr val="294668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自然语言、点击工具、上传数据或选择资料专题。</a:t>
            </a:r>
            <a:endParaRPr altLang="en-US" b="1" dirty="0" lang="zh-CN">
              <a:solidFill>
                <a:srgbClr val="294668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-18256" y="4528281"/>
            <a:ext cx="9180512" cy="338554"/>
          </a:xfrm>
          <a:prstGeom prst="rect">
            <a:avLst/>
          </a:prstGeom>
          <a:noFill/>
        </p:spPr>
        <p:txBody>
          <a:bodyPr anchor="t" rtlCol="0" wrap="square">
            <a:spAutoFit/>
          </a:bodyPr>
          <a:lstStyle/>
          <a:p>
            <a:r>
              <a:rPr altLang="en-US" b="1" dirty="0" lang="zh-CN" sz="1600">
                <a:solidFill>
                  <a:schemeClr val="tx2">
                    <a:lumMod val="60000"/>
                    <a:lumOff val="40000"/>
                  </a:schemeClr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系统感知</a:t>
            </a:r>
            <a:endParaRPr altLang="en-US" b="1" dirty="0" lang="zh-CN" sz="1600">
              <a:solidFill>
                <a:schemeClr val="tx2">
                  <a:lumMod val="60000"/>
                  <a:lumOff val="40000"/>
                </a:schemeClr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2522" y="1376680"/>
            <a:ext cx="7975902" cy="9782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7" name="矩形 16"/>
          <p:cNvSpPr/>
          <p:nvPr/>
        </p:nvSpPr>
        <p:spPr>
          <a:xfrm>
            <a:off x="412521" y="2354908"/>
            <a:ext cx="7975902" cy="9782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8" name="矩形 17"/>
          <p:cNvSpPr/>
          <p:nvPr/>
        </p:nvSpPr>
        <p:spPr>
          <a:xfrm>
            <a:off x="412521" y="3333373"/>
            <a:ext cx="7975902" cy="9782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4" name="Flowchart: Process 2357"/>
          <p:cNvSpPr/>
          <p:nvPr/>
        </p:nvSpPr>
        <p:spPr>
          <a:xfrm>
            <a:off x="412523" y="1376680"/>
            <a:ext cx="1686847" cy="412202"/>
          </a:xfrm>
          <a:prstGeom prst="flowChartProcess">
            <a:avLst/>
          </a:prstGeom>
          <a:solidFill>
            <a:srgbClr val="2946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bIns="34289" lIns="68556" rIns="68556" rtlCol="0" tIns="34289"/>
          <a:lstStyle/>
          <a:p>
            <a:pPr algn="ctr" defTabSz="685800"/>
            <a:r>
              <a:rPr altLang="en-US" b="1" dirty="0" lang="zh-CN" sz="1400">
                <a:latin charset="-122" panose="020B0503020204020204" pitchFamily="34" typeface="微软雅黑"/>
                <a:ea charset="-122" panose="020B0503020204020204" pitchFamily="34" typeface="微软雅黑"/>
              </a:rPr>
              <a:t>当前视域、底图、可见图层、活动图层、截图与知识库命中。</a:t>
            </a:r>
            <a:endParaRPr b="1" dirty="0" lang="en-US" sz="1400">
              <a:solidFill>
                <a:prstClr val="white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13" name="Flowchart: Process 2357"/>
          <p:cNvSpPr/>
          <p:nvPr/>
        </p:nvSpPr>
        <p:spPr>
          <a:xfrm>
            <a:off x="412521" y="2354908"/>
            <a:ext cx="1686847" cy="412202"/>
          </a:xfrm>
          <a:prstGeom prst="flowChartProcess">
            <a:avLst/>
          </a:prstGeom>
          <a:solidFill>
            <a:srgbClr val="2946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bIns="34289" lIns="68556" rIns="68556" rtlCol="0" tIns="34289"/>
          <a:lstStyle/>
          <a:p>
            <a:pPr algn="ctr" defTabSz="685800"/>
            <a:r>
              <a:rPr altLang="en-US" b="1" dirty="0" lang="zh-CN" sz="1400">
                <a:latin charset="-122" panose="020B0503020204020204" pitchFamily="34" typeface="微软雅黑"/>
                <a:ea charset="-122" panose="020B0503020204020204" pitchFamily="34" typeface="微软雅黑"/>
              </a:rPr>
              <a:t>助教规划</a:t>
            </a:r>
            <a:endParaRPr b="1" dirty="0" lang="en-US" sz="1400">
              <a:solidFill>
                <a:prstClr val="white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14" name="Flowchart: Process 2357"/>
          <p:cNvSpPr/>
          <p:nvPr/>
        </p:nvSpPr>
        <p:spPr>
          <a:xfrm>
            <a:off x="412521" y="3333136"/>
            <a:ext cx="1686847" cy="412202"/>
          </a:xfrm>
          <a:prstGeom prst="flowChartProcess">
            <a:avLst/>
          </a:prstGeom>
          <a:solidFill>
            <a:srgbClr val="2946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bIns="34289" lIns="68556" rIns="68556" rtlCol="0" tIns="34289"/>
          <a:lstStyle/>
          <a:p>
            <a:pPr algn="ctr" defTabSz="685800"/>
            <a:r>
              <a:rPr altLang="en-US" b="1" dirty="0" lang="zh-CN" sz="1400">
                <a:latin charset="-122" panose="020B0503020204020204" pitchFamily="34" typeface="微软雅黑"/>
                <a:ea charset="-122" panose="020B0503020204020204" pitchFamily="34" typeface="微软雅黑"/>
              </a:rPr>
              <a:t>生成讲解型回复或白名单地图动作。</a:t>
            </a:r>
            <a:endParaRPr b="1" dirty="0" lang="en-US" sz="1400">
              <a:solidFill>
                <a:prstClr val="white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29855" y="1404129"/>
            <a:ext cx="67512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indent="0" lvl="1">
              <a:spcBef>
                <a:spcPts val="800"/>
              </a:spcBef>
              <a:buClrTx/>
              <a:buSzTx/>
              <a:buFont charset="0" panose="020B0604020202020204" pitchFamily="34" typeface="Arial"/>
              <a:buNone/>
            </a:pPr>
            <a:r>
              <a:rPr altLang="en-US" b="1" dirty="0" lang="zh-CN" sz="18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地图执行</a:t>
            </a:r>
            <a:r>
              <a:rPr altLang="en-US" dirty="0" lang="zh-CN" sz="18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切换底图、POI 检索、图层显隐、标注、测距、导出截图。</a:t>
            </a:r>
            <a:r>
              <a:rPr altLang="en-US" b="1" dirty="0" lang="zh-CN" sz="1800">
                <a:solidFill>
                  <a:srgbClr val="FF0000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成果沉淀</a:t>
            </a:r>
            <a:r>
              <a:rPr altLang="en-US" dirty="0" lang="zh-CN" sz="18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课堂截图、讲解稿、查询摘要进入课堂产物。</a:t>
            </a:r>
            <a:r>
              <a:rPr altLang="en-US" b="1" dirty="0" lang="zh-CN" sz="1800">
                <a:solidFill>
                  <a:srgbClr val="FF0000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8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800">
                <a:solidFill>
                  <a:schemeClr val="tx1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800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629855" y="2539051"/>
            <a:ext cx="6751228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vl="1">
              <a:spcBef>
                <a:spcPts val="800"/>
              </a:spcBef>
            </a:pPr>
            <a:r>
              <a:rPr altLang="en-US" dirty="0" lang="zh-CN" sz="18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8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8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800">
                <a:solidFill>
                  <a:srgbClr val="FF0000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8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800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just" indent="0" lvl="1">
              <a:spcBef>
                <a:spcPts val="800"/>
              </a:spcBef>
              <a:buClrTx/>
              <a:buSzTx/>
              <a:buFont charset="0" panose="020B0604020202020204" pitchFamily="34" typeface="Arial"/>
              <a:buNone/>
            </a:pPr>
            <a:endParaRPr altLang="en-US" dirty="0" lang="zh-CN" sz="1800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691680" y="3515244"/>
            <a:ext cx="6751228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vl="1">
              <a:spcBef>
                <a:spcPts val="800"/>
              </a:spcBef>
            </a:pPr>
            <a:r>
              <a:rPr altLang="en-US" dirty="0" lang="zh-CN" sz="18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8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8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800">
                <a:solidFill>
                  <a:srgbClr val="FF0000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8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800">
                <a:solidFill>
                  <a:srgbClr val="FF0000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800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800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just" lvl="1">
              <a:spcBef>
                <a:spcPts val="800"/>
              </a:spcBef>
            </a:pPr>
            <a:endParaRPr altLang="en-US" dirty="0" lang="zh-CN" sz="1800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just" indent="0" lvl="1">
              <a:spcBef>
                <a:spcPts val="800"/>
              </a:spcBef>
              <a:buClrTx/>
              <a:buSzTx/>
              <a:buFont charset="0" panose="020B0604020202020204" pitchFamily="34" typeface="Arial"/>
              <a:buNone/>
            </a:pPr>
            <a:endParaRPr altLang="en-US" dirty="0" lang="zh-CN" sz="1800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62472" y="2752346"/>
            <a:ext cx="2620010" cy="459105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>
            <a:defPPr>
              <a:defRPr lang="zh-CN"/>
            </a:defPPr>
            <a:lvl1pPr>
              <a:defRPr b="1" sz="2400">
                <a:solidFill>
                  <a:srgbClr val="294668"/>
                </a:solidFill>
                <a:effectLst>
                  <a:outerShdw algn="tl" blurRad="38100" dir="2400000" dist="76200" rotWithShape="0">
                    <a:schemeClr val="bg1">
                      <a:alpha val="69000"/>
                    </a:schemeClr>
                  </a:outerShdw>
                </a:effectLst>
                <a:latin charset="-122" panose="020B0503020204020204" pitchFamily="34" typeface="微软雅黑"/>
                <a:ea charset="-122" panose="020B0503020204020204" pitchFamily="34" typeface="微软雅黑"/>
              </a:defRPr>
            </a:lvl1pPr>
          </a:lstStyle>
          <a:p>
            <a:pPr algn="l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1" baseline="0" cap="none" dirty="0" i="0" kern="1200" kumimoji="0" lang="zh-CN" noProof="0" normalizeH="0" spc="0" strike="noStrike" sz="2400" u="none">
                <a:ln>
                  <a:noFill/>
                </a:ln>
                <a:solidFill>
                  <a:srgbClr val="294668"/>
                </a:solidFill>
                <a:effectLst>
                  <a:outerShdw algn="tl" blurRad="38100" dir="2400000" dist="76200" rotWithShape="0">
                    <a:prstClr val="white">
                      <a:alpha val="69000"/>
                    </a:prstClr>
                  </a:outerShdw>
                </a:effectLst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  <a:sym typeface="+mn-ea"/>
              </a:rPr>
              <a:t>已取得进展</a:t>
            </a:r>
            <a:endParaRPr altLang="en-US" b="1" baseline="0" cap="none" dirty="0" i="0" kern="1200" kumimoji="0" lang="zh-CN" noProof="0" normalizeH="0" spc="0" strike="noStrike" sz="2400" u="none">
              <a:ln>
                <a:noFill/>
              </a:ln>
              <a:solidFill>
                <a:srgbClr val="294668"/>
              </a:solidFill>
              <a:effectLst>
                <a:outerShdw algn="tl" blurRad="38100" dir="2400000" dist="76200" rotWithShape="0">
                  <a:prstClr val="white">
                    <a:alpha val="69000"/>
                  </a:prstClr>
                </a:outerShdw>
              </a:effectLst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8724" y="2089363"/>
            <a:ext cx="1752298" cy="1785052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pPr algn="l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zh-CN" b="0" baseline="0" cap="none" dirty="0" i="0" kern="1200" kumimoji="0" lang="en-US" noProof="0" normalizeH="0" spc="0" strike="noStrike" sz="110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0" panose="020B0604020202020204" pitchFamily="34" typeface="Arial"/>
                <a:ea charset="-122" panose="020B0503020204020204" pitchFamily="34" typeface="微软雅黑"/>
                <a:cs charset="0" panose="020B0604020202020204" pitchFamily="34" typeface="Arial"/>
              </a:rPr>
              <a:t>03</a:t>
            </a:r>
            <a:endParaRPr altLang="en-US" b="0" baseline="0" cap="none" dirty="0" i="0" kern="1200" kumimoji="0" lang="zh-CN" noProof="0" normalizeH="0" spc="0" strike="noStrike" sz="110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0" panose="020B0604020202020204" pitchFamily="34" typeface="Arial"/>
              <a:ea charset="-122" panose="020B0503020204020204" pitchFamily="34" typeface="微软雅黑"/>
              <a:cs charset="0" panose="020B0604020202020204" pitchFamily="34"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838" y="276665"/>
            <a:ext cx="557530" cy="459105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pPr algn="l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zh-CN" b="1" baseline="0" cap="none" dirty="0" i="0" kern="1200" kumimoji="0" lang="en-US" noProof="0" normalizeH="0" spc="0" strike="noStrike" sz="24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03 前端课堂页进展</a:t>
            </a:r>
            <a:endParaRPr altLang="en-US" b="1" baseline="0" cap="none" dirty="0" i="0" kern="1200" kumimoji="0" lang="zh-CN" noProof="0" normalizeH="0" spc="0" strike="noStrike" sz="24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03648" y="321068"/>
            <a:ext cx="2010410" cy="367030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pPr algn="l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1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294668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  <a:sym typeface="+mn-ea"/>
              </a:rPr>
              <a:t>课堂大屏界面已完成 v1.1 重构。</a:t>
            </a:r>
            <a:endParaRPr altLang="en-US" b="1" baseline="0" cap="none" dirty="0" i="0" kern="1200" kumimoji="0" lang="zh-CN" noProof="0" normalizeH="0" spc="0" strike="noStrike" sz="1800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78815" y="988060"/>
            <a:ext cx="2257425" cy="367030"/>
          </a:xfrm>
          <a:prstGeom prst="rect">
            <a:avLst/>
          </a:prstGeom>
        </p:spPr>
        <p:txBody>
          <a:bodyPr bIns="45694" lIns="91388" rIns="91388" tIns="45694" wrap="square">
            <a:spAutoFit/>
          </a:bodyPr>
          <a:lstStyle/>
          <a:p>
            <a:pPr algn="just" defTabSz="913765" eaLnBrk="1" fontAlgn="auto" hangingPunct="1" indent="0" latinLnBrk="0" lvl="0" marL="0" marR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zh-CN" b="1" baseline="0" cap="none" dirty="0" i="0" kern="1200" kumimoji="0" lang="en-US" noProof="0" normalizeH="0" spc="0" strike="noStrike" sz="1800" u="none">
                <a:ln>
                  <a:noFill/>
                </a:ln>
                <a:solidFill>
                  <a:srgbClr val="294668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地图全屏占主视口，控件轻量悬浮。</a:t>
            </a:r>
            <a:r>
              <a:rPr altLang="en-US" b="1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294668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左侧课堂控制台：资料、图层、检索、产物。</a:t>
            </a:r>
            <a:r>
              <a:rPr altLang="zh-CN" b="1" baseline="0" cap="none" dirty="0" i="0" kern="1200" kumimoji="0" lang="en-US" noProof="0" normalizeH="0" spc="0" strike="noStrike" sz="1800" u="none">
                <a:ln>
                  <a:noFill/>
                </a:ln>
                <a:solidFill>
                  <a:srgbClr val="294668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右侧地图工具：选择、标注、测距、绘区、清除、缩放。</a:t>
            </a:r>
            <a:r>
              <a:rPr altLang="en-US" b="1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294668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助教升级为圆球/浮窗双态，可缩小、拖动、展开对话。</a:t>
            </a:r>
            <a:endParaRPr altLang="en-US" b="1" baseline="0" cap="none" dirty="0" i="0" kern="1200" kumimoji="0" lang="zh-CN" noProof="0" normalizeH="0" spc="0" strike="noStrike" sz="1800" u="none">
              <a:ln>
                <a:noFill/>
              </a:ln>
              <a:solidFill>
                <a:srgbClr val="294668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636010" y="1059819"/>
            <a:ext cx="716915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1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zh-CN" b="0" baseline="0" cap="none" dirty="0" i="0" kern="1200" kumimoji="0" lang="en-US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1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zh-CN" b="0" baseline="0" cap="none" dirty="0" i="0" kern="1200" kumimoji="0" lang="en-US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endParaRPr altLang="en-US" b="0" baseline="0" cap="none" dirty="0" i="0" kern="1200" kumimoji="0" lang="zh-CN" noProof="0" normalizeH="0" spc="0" strike="noStrike" sz="1400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3636010" y="1591310"/>
            <a:ext cx="5208905" cy="224917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7" name="Flowchart: Process 2354"/>
          <p:cNvSpPr/>
          <p:nvPr>
            <p:custDataLst>
              <p:tags r:id="rId2"/>
            </p:custDataLst>
          </p:nvPr>
        </p:nvSpPr>
        <p:spPr>
          <a:xfrm>
            <a:off x="4032885" y="2109470"/>
            <a:ext cx="1837055" cy="1448435"/>
          </a:xfrm>
          <a:prstGeom prst="flowChartProcess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49000">
                <a:srgbClr val="F6F6F6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bIns="34289" lIns="68556" rIns="68556" rtlCol="0" tIns="34289"/>
          <a:lstStyle/>
          <a:p>
            <a:pPr algn="ctr" defTabSz="685800"/>
            <a:endParaRPr lang="id-ID" sz="1400">
              <a:solidFill>
                <a:prstClr val="white"/>
              </a:solidFill>
            </a:endParaRPr>
          </a:p>
        </p:txBody>
      </p:sp>
      <p:sp>
        <p:nvSpPr>
          <p:cNvPr id="28" name="Flowchart: Process 2357"/>
          <p:cNvSpPr/>
          <p:nvPr>
            <p:custDataLst>
              <p:tags r:id="rId3"/>
            </p:custDataLst>
          </p:nvPr>
        </p:nvSpPr>
        <p:spPr>
          <a:xfrm>
            <a:off x="4032885" y="1784985"/>
            <a:ext cx="1837690" cy="412115"/>
          </a:xfrm>
          <a:prstGeom prst="flowChartProcess">
            <a:avLst/>
          </a:prstGeom>
          <a:solidFill>
            <a:srgbClr val="2946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bIns="34289" lIns="68556" rIns="68556" rtlCol="0" tIns="34289"/>
          <a:lstStyle/>
          <a:p>
            <a:pPr algn="ctr" defTabSz="685800"/>
            <a:r>
              <a:rPr altLang="en-US" b="1" dirty="0" lang="zh-CN" sz="1400">
                <a:solidFill>
                  <a:prstClr val="white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b="1" dirty="0" lang="zh-CN" sz="1400">
              <a:solidFill>
                <a:prstClr val="white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29" name="矩形 28"/>
          <p:cNvSpPr/>
          <p:nvPr>
            <p:custDataLst>
              <p:tags r:id="rId4"/>
            </p:custDataLst>
          </p:nvPr>
        </p:nvSpPr>
        <p:spPr>
          <a:xfrm>
            <a:off x="4259835" y="2363445"/>
            <a:ext cx="1385052" cy="1359535"/>
          </a:xfrm>
          <a:prstGeom prst="rect">
            <a:avLst/>
          </a:prstGeom>
        </p:spPr>
        <p:txBody>
          <a:bodyPr bIns="34289" lIns="68556" rIns="68556" tIns="34289" wrap="square">
            <a:spAutoFit/>
          </a:bodyPr>
          <a:lstStyle/>
          <a:p>
            <a:pPr algn="ctr" defTabSz="685800"/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r>
              <a:rPr altLang="en-US" b="1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30" name="Flowchart: Process 2354"/>
          <p:cNvSpPr/>
          <p:nvPr>
            <p:custDataLst>
              <p:tags r:id="rId5"/>
            </p:custDataLst>
          </p:nvPr>
        </p:nvSpPr>
        <p:spPr>
          <a:xfrm>
            <a:off x="6684010" y="2109470"/>
            <a:ext cx="1771650" cy="1448435"/>
          </a:xfrm>
          <a:prstGeom prst="flowChartProcess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49000">
                <a:srgbClr val="F6F6F6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bIns="34289" lIns="68556" rIns="68556" rtlCol="0" tIns="34289"/>
          <a:lstStyle/>
          <a:p>
            <a:pPr algn="ctr" defTabSz="685800"/>
            <a:endParaRPr lang="id-ID" sz="1400">
              <a:solidFill>
                <a:prstClr val="white"/>
              </a:solidFill>
            </a:endParaRPr>
          </a:p>
        </p:txBody>
      </p:sp>
      <p:sp>
        <p:nvSpPr>
          <p:cNvPr id="31" name="Flowchart: Process 2357"/>
          <p:cNvSpPr/>
          <p:nvPr>
            <p:custDataLst>
              <p:tags r:id="rId6"/>
            </p:custDataLst>
          </p:nvPr>
        </p:nvSpPr>
        <p:spPr>
          <a:xfrm>
            <a:off x="6684645" y="1784985"/>
            <a:ext cx="1771015" cy="412115"/>
          </a:xfrm>
          <a:prstGeom prst="flowChartProcess">
            <a:avLst/>
          </a:prstGeom>
          <a:solidFill>
            <a:srgbClr val="2946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bIns="34289" lIns="68556" rIns="68556" rtlCol="0" tIns="34289"/>
          <a:lstStyle/>
          <a:p>
            <a:pPr algn="ctr" defTabSz="685800"/>
            <a:r>
              <a:rPr altLang="en-US" b="1" dirty="0" lang="zh-CN" sz="14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b="1" dirty="0" lang="zh-CN" sz="1400"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32" name="矩形 31"/>
          <p:cNvSpPr/>
          <p:nvPr>
            <p:custDataLst>
              <p:tags r:id="rId7"/>
            </p:custDataLst>
          </p:nvPr>
        </p:nvSpPr>
        <p:spPr>
          <a:xfrm>
            <a:off x="6826160" y="2363205"/>
            <a:ext cx="1519673" cy="1544320"/>
          </a:xfrm>
          <a:prstGeom prst="rect">
            <a:avLst/>
          </a:prstGeom>
        </p:spPr>
        <p:txBody>
          <a:bodyPr bIns="34289" lIns="68556" rIns="68556" tIns="34289" wrap="square">
            <a:spAutoFit/>
          </a:bodyPr>
          <a:lstStyle/>
          <a:p>
            <a:pPr algn="ctr" defTabSz="685800"/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r>
              <a:rPr altLang="en-US" b="1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b="1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r>
              <a:rPr altLang="en-US" b="1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b="1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grpSp>
        <p:nvGrpSpPr>
          <p:cNvPr id="135" name="组合 134"/>
          <p:cNvGrpSpPr/>
          <p:nvPr>
            <p:custDataLst>
              <p:tags r:id="rId8"/>
            </p:custDataLst>
          </p:nvPr>
        </p:nvGrpSpPr>
        <p:grpSpPr>
          <a:xfrm rot="0">
            <a:off x="179705" y="1779905"/>
            <a:ext cx="3255010" cy="2141855"/>
            <a:chOff x="2741" y="3791"/>
            <a:chExt cx="13738" cy="10819"/>
          </a:xfrm>
        </p:grpSpPr>
      </p:grpSp>
      <p:sp>
        <p:nvSpPr>
          <p:cNvPr id="150" name="矩形 149"/>
          <p:cNvSpPr/>
          <p:nvPr/>
        </p:nvSpPr>
        <p:spPr>
          <a:xfrm>
            <a:off x="925195" y="4228465"/>
            <a:ext cx="7530465" cy="30670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zh-CN" b="0" baseline="0" cap="none" dirty="0" i="0" kern="1200" kumimoji="0" lang="en-US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zh-CN" b="0" baseline="0" cap="none" dirty="0" i="0" kern="1200" kumimoji="0" lang="en-US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zh-CN" b="0" baseline="0" cap="none" dirty="0" i="0" kern="1200" kumimoji="0" lang="en-US" noProof="0" normalizeH="0" spc="0" strike="noStrike" sz="1400" u="none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zh-CN" b="0" baseline="0" cap="none" dirty="0" i="0" kern="1200" kumimoji="0" lang="en-US" noProof="0" normalizeH="0" spc="0" strike="noStrike" sz="1400" u="none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endParaRPr altLang="en-US" b="0" baseline="0" cap="none" dirty="0" i="0" kern="1200" kumimoji="0" lang="zh-CN" noProof="0" normalizeH="0" spc="0" strike="noStrike" sz="1400" u="none">
              <a:ln>
                <a:noFill/>
              </a:ln>
              <a:solidFill>
                <a:srgbClr val="FF0000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838" y="276665"/>
            <a:ext cx="557530" cy="459105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pPr algn="l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zh-CN" b="1" baseline="0" cap="none" dirty="0" i="0" kern="1200" kumimoji="0" lang="en-US" noProof="0" normalizeH="0" spc="0" strike="noStrike" sz="24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03 后端与 AI 进展</a:t>
            </a:r>
            <a:endParaRPr altLang="en-US" b="1" baseline="0" cap="none" dirty="0" i="0" kern="1200" kumimoji="0" lang="zh-CN" noProof="0" normalizeH="0" spc="0" strike="noStrike" sz="24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03648" y="321068"/>
            <a:ext cx="2010410" cy="367030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pPr algn="l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1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294668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  <a:sym typeface="+mn-ea"/>
              </a:rPr>
              <a:t>FastAPI 运行时已具备项目、图层、任务、artifact、SSE 状态流。</a:t>
            </a:r>
            <a:endParaRPr altLang="en-US" b="1" baseline="0" cap="none" dirty="0" i="0" kern="1200" kumimoji="0" lang="zh-CN" noProof="0" normalizeH="0" spc="0" strike="noStrike" sz="1800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78815" y="988060"/>
            <a:ext cx="2257425" cy="367030"/>
          </a:xfrm>
          <a:prstGeom prst="rect">
            <a:avLst/>
          </a:prstGeom>
        </p:spPr>
        <p:txBody>
          <a:bodyPr bIns="45694" lIns="91388" rIns="91388" tIns="45694" wrap="square">
            <a:spAutoFit/>
          </a:bodyPr>
          <a:lstStyle/>
          <a:p>
            <a:pPr algn="just" defTabSz="913765" eaLnBrk="1" fontAlgn="auto" hangingPunct="1" indent="0" latinLnBrk="0" lvl="0" marL="0" marR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zh-CN" b="1" baseline="0" cap="none" dirty="0" i="0" kern="1200" kumimoji="0" lang="en-US" noProof="0" normalizeH="0" spc="0" strike="noStrike" sz="1800" u="none">
                <a:ln>
                  <a:noFill/>
                </a:ln>
                <a:solidFill>
                  <a:srgbClr val="294668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已接入 MiniMax 文本助教：模型规划失败时自动规则兜底。</a:t>
            </a:r>
            <a:r>
              <a:rPr altLang="en-US" b="1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294668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读图理解升级为截图 + map_context 双通道。</a:t>
            </a:r>
            <a:r>
              <a:rPr altLang="zh-CN" b="1" baseline="0" cap="none" dirty="0" i="0" kern="1200" kumimoji="0" lang="en-US" noProof="0" normalizeH="0" spc="0" strike="noStrike" sz="1800" u="none">
                <a:ln>
                  <a:noFill/>
                </a:ln>
                <a:solidFill>
                  <a:srgbClr val="294668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视觉 MCP 未配置时，系统明确回退到结构化地图上下文讲解。</a:t>
            </a:r>
            <a:r>
              <a:rPr altLang="en-US" b="1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294668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endParaRPr altLang="en-US" b="1" baseline="0" cap="none" dirty="0" i="0" kern="1200" kumimoji="0" lang="zh-CN" noProof="0" normalizeH="0" spc="0" strike="noStrike" sz="1800" u="none">
              <a:ln>
                <a:noFill/>
              </a:ln>
              <a:solidFill>
                <a:srgbClr val="294668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636010" y="1059819"/>
            <a:ext cx="716915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1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zh-CN" b="0" baseline="0" cap="none" dirty="0" i="0" kern="1200" kumimoji="0" lang="en-US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1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zh-CN" b="0" baseline="0" cap="none" dirty="0" i="0" kern="1200" kumimoji="0" lang="en-US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endParaRPr altLang="en-US" b="0" baseline="0" cap="none" dirty="0" i="0" kern="1200" kumimoji="0" lang="zh-CN" noProof="0" normalizeH="0" spc="0" strike="noStrike" sz="1400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3636010" y="1591310"/>
            <a:ext cx="5208905" cy="224917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7" name="Flowchart: Process 2354"/>
          <p:cNvSpPr/>
          <p:nvPr>
            <p:custDataLst>
              <p:tags r:id="rId2"/>
            </p:custDataLst>
          </p:nvPr>
        </p:nvSpPr>
        <p:spPr>
          <a:xfrm>
            <a:off x="4032885" y="2109470"/>
            <a:ext cx="1837055" cy="1448435"/>
          </a:xfrm>
          <a:prstGeom prst="flowChartProcess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49000">
                <a:srgbClr val="F6F6F6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bIns="34289" lIns="68556" rIns="68556" rtlCol="0" tIns="34289"/>
          <a:lstStyle/>
          <a:p>
            <a:pPr algn="ctr" defTabSz="685800"/>
            <a:endParaRPr lang="id-ID" sz="1400">
              <a:solidFill>
                <a:prstClr val="white"/>
              </a:solidFill>
            </a:endParaRPr>
          </a:p>
        </p:txBody>
      </p:sp>
      <p:sp>
        <p:nvSpPr>
          <p:cNvPr id="28" name="Flowchart: Process 2357"/>
          <p:cNvSpPr/>
          <p:nvPr>
            <p:custDataLst>
              <p:tags r:id="rId3"/>
            </p:custDataLst>
          </p:nvPr>
        </p:nvSpPr>
        <p:spPr>
          <a:xfrm>
            <a:off x="4032885" y="1784985"/>
            <a:ext cx="1837690" cy="412115"/>
          </a:xfrm>
          <a:prstGeom prst="flowChartProcess">
            <a:avLst/>
          </a:prstGeom>
          <a:solidFill>
            <a:srgbClr val="2946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bIns="34289" lIns="68556" rIns="68556" rtlCol="0" tIns="34289"/>
          <a:lstStyle/>
          <a:p>
            <a:pPr algn="ctr" defTabSz="685800"/>
            <a:r>
              <a:rPr altLang="en-US" b="1" dirty="0" lang="zh-CN" sz="1400">
                <a:solidFill>
                  <a:prstClr val="white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b="1" dirty="0" lang="zh-CN" sz="1400">
              <a:solidFill>
                <a:prstClr val="white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29" name="矩形 28"/>
          <p:cNvSpPr/>
          <p:nvPr>
            <p:custDataLst>
              <p:tags r:id="rId4"/>
            </p:custDataLst>
          </p:nvPr>
        </p:nvSpPr>
        <p:spPr>
          <a:xfrm>
            <a:off x="4259835" y="2363445"/>
            <a:ext cx="1385052" cy="1359535"/>
          </a:xfrm>
          <a:prstGeom prst="rect">
            <a:avLst/>
          </a:prstGeom>
        </p:spPr>
        <p:txBody>
          <a:bodyPr bIns="34289" lIns="68556" rIns="68556" tIns="34289" wrap="square">
            <a:spAutoFit/>
          </a:bodyPr>
          <a:lstStyle/>
          <a:p>
            <a:pPr algn="ctr" defTabSz="685800"/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r>
              <a:rPr altLang="en-US" b="1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30" name="Flowchart: Process 2354"/>
          <p:cNvSpPr/>
          <p:nvPr>
            <p:custDataLst>
              <p:tags r:id="rId5"/>
            </p:custDataLst>
          </p:nvPr>
        </p:nvSpPr>
        <p:spPr>
          <a:xfrm>
            <a:off x="6684010" y="2109470"/>
            <a:ext cx="1771650" cy="1448435"/>
          </a:xfrm>
          <a:prstGeom prst="flowChartProcess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49000">
                <a:srgbClr val="F6F6F6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bIns="34289" lIns="68556" rIns="68556" rtlCol="0" tIns="34289"/>
          <a:lstStyle/>
          <a:p>
            <a:pPr algn="ctr" defTabSz="685800"/>
            <a:endParaRPr lang="id-ID" sz="1400">
              <a:solidFill>
                <a:prstClr val="white"/>
              </a:solidFill>
            </a:endParaRPr>
          </a:p>
        </p:txBody>
      </p:sp>
      <p:sp>
        <p:nvSpPr>
          <p:cNvPr id="31" name="Flowchart: Process 2357"/>
          <p:cNvSpPr/>
          <p:nvPr>
            <p:custDataLst>
              <p:tags r:id="rId6"/>
            </p:custDataLst>
          </p:nvPr>
        </p:nvSpPr>
        <p:spPr>
          <a:xfrm>
            <a:off x="6684645" y="1784985"/>
            <a:ext cx="1771015" cy="412115"/>
          </a:xfrm>
          <a:prstGeom prst="flowChartProcess">
            <a:avLst/>
          </a:prstGeom>
          <a:solidFill>
            <a:srgbClr val="2946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bIns="34289" lIns="68556" rIns="68556" rtlCol="0" tIns="34289"/>
          <a:lstStyle/>
          <a:p>
            <a:pPr algn="ctr" defTabSz="685800"/>
            <a:r>
              <a:rPr altLang="en-US" b="1" dirty="0" lang="zh-CN" sz="14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b="1" dirty="0" lang="zh-CN" sz="1400"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32" name="矩形 31"/>
          <p:cNvSpPr/>
          <p:nvPr>
            <p:custDataLst>
              <p:tags r:id="rId7"/>
            </p:custDataLst>
          </p:nvPr>
        </p:nvSpPr>
        <p:spPr>
          <a:xfrm>
            <a:off x="6826160" y="2363205"/>
            <a:ext cx="1519673" cy="1544320"/>
          </a:xfrm>
          <a:prstGeom prst="rect">
            <a:avLst/>
          </a:prstGeom>
        </p:spPr>
        <p:txBody>
          <a:bodyPr bIns="34289" lIns="68556" rIns="68556" tIns="34289" wrap="square">
            <a:spAutoFit/>
          </a:bodyPr>
          <a:lstStyle/>
          <a:p>
            <a:pPr algn="ctr" defTabSz="685800"/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r>
              <a:rPr altLang="en-US" b="1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b="1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r>
              <a:rPr altLang="en-US" b="1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b="1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grpSp>
        <p:nvGrpSpPr>
          <p:cNvPr id="135" name="组合 134"/>
          <p:cNvGrpSpPr/>
          <p:nvPr>
            <p:custDataLst>
              <p:tags r:id="rId8"/>
            </p:custDataLst>
          </p:nvPr>
        </p:nvGrpSpPr>
        <p:grpSpPr>
          <a:xfrm rot="0">
            <a:off x="179705" y="1779905"/>
            <a:ext cx="3255010" cy="2141855"/>
            <a:chOff x="2741" y="3791"/>
            <a:chExt cx="13738" cy="10819"/>
          </a:xfrm>
        </p:grpSpPr>
      </p:grpSp>
      <p:sp>
        <p:nvSpPr>
          <p:cNvPr id="150" name="矩形 149"/>
          <p:cNvSpPr/>
          <p:nvPr/>
        </p:nvSpPr>
        <p:spPr>
          <a:xfrm>
            <a:off x="925195" y="4228465"/>
            <a:ext cx="7530465" cy="30670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zh-CN" b="0" baseline="0" cap="none" dirty="0" i="0" kern="1200" kumimoji="0" lang="en-US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zh-CN" b="0" baseline="0" cap="none" dirty="0" i="0" kern="1200" kumimoji="0" lang="en-US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zh-CN" b="0" baseline="0" cap="none" dirty="0" i="0" kern="1200" kumimoji="0" lang="en-US" noProof="0" normalizeH="0" spc="0" strike="noStrike" sz="1400" u="none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zh-CN" b="0" baseline="0" cap="none" dirty="0" i="0" kern="1200" kumimoji="0" lang="en-US" noProof="0" normalizeH="0" spc="0" strike="noStrike" sz="1400" u="none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endParaRPr altLang="en-US" b="0" baseline="0" cap="none" dirty="0" i="0" kern="1200" kumimoji="0" lang="zh-CN" noProof="0" normalizeH="0" spc="0" strike="noStrike" sz="1400" u="none">
              <a:ln>
                <a:noFill/>
              </a:ln>
              <a:solidFill>
                <a:srgbClr val="FF0000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838" y="276665"/>
            <a:ext cx="557530" cy="459105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pPr algn="l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zh-CN" b="1" baseline="0" cap="none" dirty="0" i="0" kern="1200" kumimoji="0" lang="en-US" noProof="0" normalizeH="0" spc="0" strike="noStrike" sz="24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03 数据与知识库进展</a:t>
            </a:r>
            <a:endParaRPr altLang="en-US" b="1" baseline="0" cap="none" dirty="0" i="0" kern="1200" kumimoji="0" lang="zh-CN" noProof="0" normalizeH="0" spc="0" strike="noStrike" sz="24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03648" y="321068"/>
            <a:ext cx="2010410" cy="367030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pPr algn="l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1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294668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  <a:sym typeface="+mn-ea"/>
              </a:rPr>
              <a:t>知识库面板已接入课堂页。</a:t>
            </a:r>
            <a:endParaRPr altLang="en-US" b="1" baseline="0" cap="none" dirty="0" i="0" kern="1200" kumimoji="0" lang="zh-CN" noProof="0" normalizeH="0" spc="0" strike="noStrike" sz="1800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78815" y="988060"/>
            <a:ext cx="2257425" cy="367030"/>
          </a:xfrm>
          <a:prstGeom prst="rect">
            <a:avLst/>
          </a:prstGeom>
        </p:spPr>
        <p:txBody>
          <a:bodyPr bIns="45694" lIns="91388" rIns="91388" tIns="45694" wrap="square">
            <a:spAutoFit/>
          </a:bodyPr>
          <a:lstStyle/>
          <a:p>
            <a:pPr algn="just" defTabSz="913765" eaLnBrk="1" fontAlgn="auto" hangingPunct="1" indent="0" latinLnBrk="0" lvl="0" marL="0" marR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zh-CN" b="1" baseline="0" cap="none" dirty="0" i="0" kern="1200" kumimoji="0" lang="en-US" noProof="0" normalizeH="0" spc="0" strike="noStrike" sz="1800" u="none">
                <a:ln>
                  <a:noFill/>
                </a:ln>
                <a:solidFill>
                  <a:srgbClr val="294668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支持可视化检索、条目编辑、活动图层一键关联。</a:t>
            </a:r>
            <a:r>
              <a:rPr altLang="en-US" b="1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294668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已整理资料：人口普查 3 条、气候区划 3 条、系统示例 1 条。</a:t>
            </a:r>
            <a:r>
              <a:rPr altLang="zh-CN" b="1" baseline="0" cap="none" dirty="0" i="0" kern="1200" kumimoji="0" lang="en-US" noProof="0" normalizeH="0" spc="0" strike="noStrike" sz="1800" u="none">
                <a:ln>
                  <a:noFill/>
                </a:ln>
                <a:solidFill>
                  <a:srgbClr val="294668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世界柯本气候图作为可显示影像层保留。</a:t>
            </a:r>
            <a:r>
              <a:rPr altLang="en-US" b="1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294668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原占位专题包已清空，等待正式教案后重建。</a:t>
            </a:r>
            <a:endParaRPr altLang="en-US" b="1" baseline="0" cap="none" dirty="0" i="0" kern="1200" kumimoji="0" lang="zh-CN" noProof="0" normalizeH="0" spc="0" strike="noStrike" sz="1800" u="none">
              <a:ln>
                <a:noFill/>
              </a:ln>
              <a:solidFill>
                <a:srgbClr val="294668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636010" y="1059819"/>
            <a:ext cx="716915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1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zh-CN" b="0" baseline="0" cap="none" dirty="0" i="0" kern="1200" kumimoji="0" lang="en-US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1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zh-CN" b="0" baseline="0" cap="none" dirty="0" i="0" kern="1200" kumimoji="0" lang="en-US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endParaRPr altLang="en-US" b="0" baseline="0" cap="none" dirty="0" i="0" kern="1200" kumimoji="0" lang="zh-CN" noProof="0" normalizeH="0" spc="0" strike="noStrike" sz="1400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3636010" y="1591310"/>
            <a:ext cx="5208905" cy="224917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7" name="Flowchart: Process 2354"/>
          <p:cNvSpPr/>
          <p:nvPr>
            <p:custDataLst>
              <p:tags r:id="rId2"/>
            </p:custDataLst>
          </p:nvPr>
        </p:nvSpPr>
        <p:spPr>
          <a:xfrm>
            <a:off x="4032885" y="2109470"/>
            <a:ext cx="1837055" cy="1448435"/>
          </a:xfrm>
          <a:prstGeom prst="flowChartProcess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49000">
                <a:srgbClr val="F6F6F6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bIns="34289" lIns="68556" rIns="68556" rtlCol="0" tIns="34289"/>
          <a:lstStyle/>
          <a:p>
            <a:pPr algn="ctr" defTabSz="685800"/>
            <a:endParaRPr lang="id-ID" sz="1400">
              <a:solidFill>
                <a:prstClr val="white"/>
              </a:solidFill>
            </a:endParaRPr>
          </a:p>
        </p:txBody>
      </p:sp>
      <p:sp>
        <p:nvSpPr>
          <p:cNvPr id="28" name="Flowchart: Process 2357"/>
          <p:cNvSpPr/>
          <p:nvPr>
            <p:custDataLst>
              <p:tags r:id="rId3"/>
            </p:custDataLst>
          </p:nvPr>
        </p:nvSpPr>
        <p:spPr>
          <a:xfrm>
            <a:off x="4032885" y="1784985"/>
            <a:ext cx="1837690" cy="412115"/>
          </a:xfrm>
          <a:prstGeom prst="flowChartProcess">
            <a:avLst/>
          </a:prstGeom>
          <a:solidFill>
            <a:srgbClr val="2946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bIns="34289" lIns="68556" rIns="68556" rtlCol="0" tIns="34289"/>
          <a:lstStyle/>
          <a:p>
            <a:pPr algn="ctr" defTabSz="685800"/>
            <a:r>
              <a:rPr altLang="en-US" b="1" dirty="0" lang="zh-CN" sz="1400">
                <a:solidFill>
                  <a:prstClr val="white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b="1" dirty="0" lang="zh-CN" sz="1400">
              <a:solidFill>
                <a:prstClr val="white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29" name="矩形 28"/>
          <p:cNvSpPr/>
          <p:nvPr>
            <p:custDataLst>
              <p:tags r:id="rId4"/>
            </p:custDataLst>
          </p:nvPr>
        </p:nvSpPr>
        <p:spPr>
          <a:xfrm>
            <a:off x="4259835" y="2363445"/>
            <a:ext cx="1385052" cy="1359535"/>
          </a:xfrm>
          <a:prstGeom prst="rect">
            <a:avLst/>
          </a:prstGeom>
        </p:spPr>
        <p:txBody>
          <a:bodyPr bIns="34289" lIns="68556" rIns="68556" tIns="34289" wrap="square">
            <a:spAutoFit/>
          </a:bodyPr>
          <a:lstStyle/>
          <a:p>
            <a:pPr algn="ctr" defTabSz="685800"/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r>
              <a:rPr altLang="en-US" b="1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30" name="Flowchart: Process 2354"/>
          <p:cNvSpPr/>
          <p:nvPr>
            <p:custDataLst>
              <p:tags r:id="rId5"/>
            </p:custDataLst>
          </p:nvPr>
        </p:nvSpPr>
        <p:spPr>
          <a:xfrm>
            <a:off x="6684010" y="2109470"/>
            <a:ext cx="1771650" cy="1448435"/>
          </a:xfrm>
          <a:prstGeom prst="flowChartProcess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49000">
                <a:srgbClr val="F6F6F6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bIns="34289" lIns="68556" rIns="68556" rtlCol="0" tIns="34289"/>
          <a:lstStyle/>
          <a:p>
            <a:pPr algn="ctr" defTabSz="685800"/>
            <a:endParaRPr lang="id-ID" sz="1400">
              <a:solidFill>
                <a:prstClr val="white"/>
              </a:solidFill>
            </a:endParaRPr>
          </a:p>
        </p:txBody>
      </p:sp>
      <p:sp>
        <p:nvSpPr>
          <p:cNvPr id="31" name="Flowchart: Process 2357"/>
          <p:cNvSpPr/>
          <p:nvPr>
            <p:custDataLst>
              <p:tags r:id="rId6"/>
            </p:custDataLst>
          </p:nvPr>
        </p:nvSpPr>
        <p:spPr>
          <a:xfrm>
            <a:off x="6684645" y="1784985"/>
            <a:ext cx="1771015" cy="412115"/>
          </a:xfrm>
          <a:prstGeom prst="flowChartProcess">
            <a:avLst/>
          </a:prstGeom>
          <a:solidFill>
            <a:srgbClr val="2946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bIns="34289" lIns="68556" rIns="68556" rtlCol="0" tIns="34289"/>
          <a:lstStyle/>
          <a:p>
            <a:pPr algn="ctr" defTabSz="685800"/>
            <a:r>
              <a:rPr altLang="en-US" b="1" dirty="0" lang="zh-CN" sz="14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b="1" dirty="0" lang="zh-CN" sz="1400"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32" name="矩形 31"/>
          <p:cNvSpPr/>
          <p:nvPr>
            <p:custDataLst>
              <p:tags r:id="rId7"/>
            </p:custDataLst>
          </p:nvPr>
        </p:nvSpPr>
        <p:spPr>
          <a:xfrm>
            <a:off x="6826160" y="2363205"/>
            <a:ext cx="1519673" cy="1544320"/>
          </a:xfrm>
          <a:prstGeom prst="rect">
            <a:avLst/>
          </a:prstGeom>
        </p:spPr>
        <p:txBody>
          <a:bodyPr bIns="34289" lIns="68556" rIns="68556" tIns="34289" wrap="square">
            <a:spAutoFit/>
          </a:bodyPr>
          <a:lstStyle/>
          <a:p>
            <a:pPr algn="ctr" defTabSz="685800"/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r>
              <a:rPr altLang="en-US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r>
              <a:rPr altLang="en-US" b="1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b="1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r>
              <a:rPr altLang="en-US" b="1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200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b="1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algn="ctr" defTabSz="685800"/>
            <a:endParaRPr altLang="en-US" dirty="0" lang="zh-CN" sz="1200"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grpSp>
        <p:nvGrpSpPr>
          <p:cNvPr id="135" name="组合 134"/>
          <p:cNvGrpSpPr/>
          <p:nvPr>
            <p:custDataLst>
              <p:tags r:id="rId8"/>
            </p:custDataLst>
          </p:nvPr>
        </p:nvGrpSpPr>
        <p:grpSpPr>
          <a:xfrm rot="0">
            <a:off x="179705" y="1779905"/>
            <a:ext cx="3255010" cy="2141855"/>
            <a:chOff x="2741" y="3791"/>
            <a:chExt cx="13738" cy="10819"/>
          </a:xfrm>
        </p:grpSpPr>
      </p:grpSp>
      <p:sp>
        <p:nvSpPr>
          <p:cNvPr id="150" name="矩形 149"/>
          <p:cNvSpPr/>
          <p:nvPr/>
        </p:nvSpPr>
        <p:spPr>
          <a:xfrm>
            <a:off x="925195" y="4228465"/>
            <a:ext cx="7530465" cy="30670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zh-CN" b="0" baseline="0" cap="none" dirty="0" i="0" kern="1200" kumimoji="0" lang="en-US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zh-CN" b="0" baseline="0" cap="none" dirty="0" i="0" kern="1200" kumimoji="0" lang="en-US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zh-CN" b="0" baseline="0" cap="none" dirty="0" i="0" kern="1200" kumimoji="0" lang="en-US" noProof="0" normalizeH="0" spc="0" strike="noStrike" sz="1400" u="none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zh-CN" b="0" baseline="0" cap="none" dirty="0" i="0" kern="1200" kumimoji="0" lang="en-US" noProof="0" normalizeH="0" spc="0" strike="noStrike" sz="1400" u="none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endParaRPr altLang="en-US" b="0" baseline="0" cap="none" dirty="0" i="0" kern="1200" kumimoji="0" lang="zh-CN" noProof="0" normalizeH="0" spc="0" strike="noStrike" sz="1400" u="none">
              <a:ln>
                <a:noFill/>
              </a:ln>
              <a:solidFill>
                <a:srgbClr val="FF0000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838" y="276665"/>
            <a:ext cx="557530" cy="459105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pPr algn="l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zh-CN" b="1" baseline="0" cap="none" dirty="0" i="0" kern="1200" kumimoji="0" lang="en-US" noProof="0" normalizeH="0" spc="0" strike="noStrike" sz="24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03 创新点与后台 GIS 工作流</a:t>
            </a:r>
            <a:endParaRPr altLang="en-US" b="1" baseline="0" cap="none" dirty="0" i="0" kern="1200" kumimoji="0" lang="zh-CN" noProof="0" normalizeH="0" spc="0" strike="noStrike" sz="24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03648" y="321068"/>
            <a:ext cx="2010410" cy="367030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pPr algn="l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1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294668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  <a:sym typeface="+mn-ea"/>
              </a:rPr>
              <a:t>WebGIS 主课堂 + 智能助教 + 后台分析工作流。</a:t>
            </a:r>
            <a:endParaRPr altLang="en-US" b="1" baseline="0" cap="none" dirty="0" i="0" kern="1200" kumimoji="0" lang="zh-CN" noProof="0" normalizeH="0" spc="0" strike="noStrike" sz="1800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23850" y="1009650"/>
            <a:ext cx="2257425" cy="367030"/>
          </a:xfrm>
          <a:prstGeom prst="rect">
            <a:avLst/>
          </a:prstGeom>
        </p:spPr>
        <p:txBody>
          <a:bodyPr bIns="45694" lIns="91388" rIns="91388" tIns="45694" wrap="square">
            <a:spAutoFit/>
          </a:bodyPr>
          <a:lstStyle/>
          <a:p>
            <a:pPr algn="just" defTabSz="913765" eaLnBrk="1" fontAlgn="auto" hangingPunct="1" indent="0" latinLnBrk="0" lvl="0" marL="0" marR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1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294668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教师在地图界面中完成观察、检索、分析和导出。</a:t>
            </a:r>
            <a:endParaRPr altLang="en-US" b="1" baseline="0" cap="none" dirty="0" i="0" kern="1200" kumimoji="0" lang="zh-CN" noProof="0" normalizeH="0" spc="0" strike="noStrike" sz="1800" u="none">
              <a:ln>
                <a:noFill/>
              </a:ln>
              <a:solidFill>
                <a:srgbClr val="294668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844165" y="914400"/>
            <a:ext cx="404431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913765" eaLnBrk="1" fontAlgn="auto" hangingPunct="1" indent="0" latinLnBrk="0" lvl="0" marL="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1" baseline="0" cap="none" dirty="0" i="0" kern="1200" kumimoji="0" lang="zh-CN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任务流通过后端统一管理，前端可观察进度与结果。</a:t>
            </a:r>
            <a:r>
              <a:rPr altLang="zh-CN" b="1" baseline="0" cap="none" dirty="0" i="0" kern="1200" kumimoji="0" lang="en-US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白名单工具覆盖图层控制、查询、统计、样式和地图导出。</a:t>
            </a:r>
            <a:r>
              <a:rPr altLang="en-US" b="1" baseline="0" cap="none" dirty="0" i="0" kern="1200" kumimoji="0" lang="zh-CN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高风险能力默认不暴露，保证课堂系统安全可控。</a:t>
            </a:r>
            <a:endParaRPr altLang="en-US" b="1" baseline="0" cap="none" dirty="0" i="0" kern="1200" kumimoji="0" lang="zh-CN" noProof="0" normalizeH="0" spc="0" strike="noStrike" sz="1600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99745" y="1779905"/>
            <a:ext cx="626935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en-US" b="1" dirty="0" lang="zh-CN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zh-CN" dirty="0" lang="en-US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zh-CN" dirty="0" lang="en-US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37185" y="2715895"/>
            <a:ext cx="654431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baseline="0" cap="none" dirty="0" i="0" kern="1200" kumimoji="0" lang="en-US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1" baseline="0" cap="none" dirty="0" i="0" kern="1200" kumimoji="0" lang="zh-CN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zh-CN" baseline="0" cap="none" dirty="0" i="0" kern="1200" kumimoji="0" lang="en-US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aseline="0" cap="none" dirty="0" i="0" kern="1200" kumimoji="0" lang="zh-CN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zh-CN" baseline="0" cap="none" dirty="0" i="0" kern="1200" kumimoji="0" lang="en-US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aseline="0" cap="none" dirty="0" i="0" kern="1200" kumimoji="0" lang="zh-CN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zh-CN" baseline="0" cap="none" dirty="0" i="0" kern="1200" kumimoji="0" lang="en-US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aseline="0" cap="none" dirty="0" i="0" kern="1200" kumimoji="0" lang="zh-CN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zh-CN" baseline="0" cap="none" dirty="0" i="0" kern="1200" kumimoji="0" lang="en-US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aseline="0" cap="none" dirty="0" i="0" kern="1200" kumimoji="0" lang="zh-CN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zh-CN" baseline="0" cap="none" dirty="0" i="0" kern="1200" kumimoji="0" lang="en-US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aseline="0" cap="none" dirty="0" i="0" kern="1200" kumimoji="0" lang="zh-CN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zh-CN" baseline="0" cap="none" dirty="0" i="0" kern="1200" kumimoji="0" lang="en-US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aseline="0" cap="none" dirty="0" i="0" kern="1200" kumimoji="0" lang="zh-CN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aseline="0" cap="none" dirty="0" i="0" kern="1200" kumimoji="0" lang="zh-CN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aseline="0" cap="none" dirty="0" i="0" kern="1200" kumimoji="0" lang="zh-CN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endParaRPr altLang="en-US" baseline="0" cap="none" dirty="0" i="0" kern="1200" kumimoji="0" lang="zh-CN" noProof="0" normalizeH="0" spc="0" strike="noStrike" sz="1600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30" name="矩形: 圆角 29"/>
          <p:cNvSpPr/>
          <p:nvPr>
            <p:custDataLst>
              <p:tags r:id="rId4"/>
            </p:custDataLst>
          </p:nvPr>
        </p:nvSpPr>
        <p:spPr>
          <a:xfrm>
            <a:off x="6948265" y="771524"/>
            <a:ext cx="2088231" cy="4104483"/>
          </a:xfrm>
          <a:prstGeom prst="roundRect">
            <a:avLst/>
          </a:prstGeom>
          <a:solidFill>
            <a:srgbClr val="EAEAEA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文本框 6"/>
          <p:cNvSpPr txBox="1"/>
          <p:nvPr/>
        </p:nvSpPr>
        <p:spPr>
          <a:xfrm>
            <a:off x="494030" y="1376680"/>
            <a:ext cx="6269355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altLang="en-US" b="1" dirty="0" lang="zh-CN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zh-CN" dirty="0" lang="en-US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dirty="0" lang="zh-CN">
                <a:solidFill>
                  <a:prstClr val="black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>
              <a:solidFill>
                <a:prstClr val="black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1129030" y="3031490"/>
            <a:ext cx="215900" cy="2159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  <p:sp>
        <p:nvSpPr>
          <p:cNvPr id="11" name="右箭头 10"/>
          <p:cNvSpPr/>
          <p:nvPr/>
        </p:nvSpPr>
        <p:spPr>
          <a:xfrm>
            <a:off x="2857500" y="3031490"/>
            <a:ext cx="215900" cy="2159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  <p:sp>
        <p:nvSpPr>
          <p:cNvPr id="12" name="文本框 11"/>
          <p:cNvSpPr txBox="1"/>
          <p:nvPr/>
        </p:nvSpPr>
        <p:spPr>
          <a:xfrm>
            <a:off x="350520" y="3391535"/>
            <a:ext cx="6544310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altLang="zh-CN" b="1" baseline="0" cap="none" dirty="0" i="0" kern="1200" kumimoji="0" lang="en-US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1" baseline="0" cap="none" dirty="0" i="0" kern="1200" kumimoji="0" lang="zh-CN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aseline="0" cap="none" dirty="0" i="0" kern="1200" kumimoji="0" lang="zh-CN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zh-CN" baseline="0" cap="none" dirty="0" i="0" kern="1200" kumimoji="0" lang="en-US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aseline="0" cap="none" dirty="0" i="0" kern="1200" kumimoji="0" lang="zh-CN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zh-CN" baseline="0" cap="none" dirty="0" i="0" kern="1200" kumimoji="0" lang="en-US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aseline="0" cap="none" dirty="0" i="0" kern="1200" kumimoji="0" lang="zh-CN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zh-CN" baseline="0" cap="none" dirty="0" i="0" kern="1200" kumimoji="0" lang="en-US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aseline="0" cap="none" dirty="0" i="0" kern="1200" kumimoji="0" lang="zh-CN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aseline="0" cap="none" dirty="0" i="0" kern="1200" kumimoji="0" lang="zh-CN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endParaRPr altLang="en-US" baseline="0" cap="none" dirty="0" i="0" kern="1200" kumimoji="0" lang="zh-CN" noProof="0" normalizeH="0" spc="0" strike="noStrike" sz="1600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17" name="文本框 16"/>
          <p:cNvSpPr txBox="1"/>
          <p:nvPr>
            <p:custDataLst>
              <p:tags r:id="rId7"/>
            </p:custDataLst>
          </p:nvPr>
        </p:nvSpPr>
        <p:spPr>
          <a:xfrm>
            <a:off x="7164070" y="2409190"/>
            <a:ext cx="1720850" cy="275590"/>
          </a:xfrm>
          <a:prstGeom prst="rect">
            <a:avLst/>
          </a:prstGeom>
          <a:noFill/>
        </p:spPr>
        <p:txBody>
          <a:bodyPr rtlCol="0" wrap="square">
            <a:spAutoFit/>
          </a:bodyPr>
          <a:p>
            <a:r>
              <a:rPr altLang="zh-CN" lang="en-US" sz="1200"/>
              <a:t/>
            </a:r>
            <a:r>
              <a:rPr altLang="en-US" lang="zh-CN" sz="1200"/>
              <a:t/>
            </a:r>
            <a:endParaRPr altLang="en-US" lang="zh-CN" sz="1200"/>
          </a:p>
        </p:txBody>
      </p:sp>
      <p:sp>
        <p:nvSpPr>
          <p:cNvPr id="20" name="文本框 19"/>
          <p:cNvSpPr txBox="1"/>
          <p:nvPr>
            <p:custDataLst>
              <p:tags r:id="rId10"/>
            </p:custDataLst>
          </p:nvPr>
        </p:nvSpPr>
        <p:spPr>
          <a:xfrm>
            <a:off x="7117715" y="4444365"/>
            <a:ext cx="1720850" cy="275590"/>
          </a:xfrm>
          <a:prstGeom prst="rect">
            <a:avLst/>
          </a:prstGeom>
          <a:noFill/>
        </p:spPr>
        <p:txBody>
          <a:bodyPr rtlCol="0" wrap="square">
            <a:spAutoFit/>
          </a:bodyPr>
          <a:p>
            <a:pPr algn="ctr"/>
            <a:r>
              <a:rPr altLang="en-US" lang="zh-CN" sz="1200"/>
              <a:t/>
            </a:r>
            <a:endParaRPr altLang="en-US" lang="zh-CN" sz="1200"/>
          </a:p>
        </p:txBody>
      </p:sp>
      <p:sp>
        <p:nvSpPr>
          <p:cNvPr id="26" name="矩形 25"/>
          <p:cNvSpPr/>
          <p:nvPr/>
        </p:nvSpPr>
        <p:spPr>
          <a:xfrm>
            <a:off x="1764030" y="4228465"/>
            <a:ext cx="4044315" cy="460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defTabSz="913765" eaLnBrk="1" fontAlgn="auto" hangingPunct="1" indent="0" latinLnBrk="0" lvl="0" marL="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en-US" b="1" baseline="0" cap="none" dirty="0" i="0" kern="1200" kumimoji="0" lang="zh-CN" noProof="0" normalizeH="0" spc="0" strike="noStrike" sz="1600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835697" y="1111600"/>
            <a:ext cx="31683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altLang="en-US" b="1" dirty="0" lang="zh-CN" sz="1400">
                <a:solidFill>
                  <a:schemeClr val="bg1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后续计划与预期成果</a:t>
            </a:r>
            <a:endParaRPr altLang="en-US" b="1" dirty="0" lang="zh-CN" sz="1400">
              <a:solidFill>
                <a:schemeClr val="bg1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6" name="矩形 12"/>
          <p:cNvSpPr>
            <a:spLocks noChangeArrowheads="1"/>
          </p:cNvSpPr>
          <p:nvPr/>
        </p:nvSpPr>
        <p:spPr bwMode="auto">
          <a:xfrm>
            <a:off x="967550" y="1607341"/>
            <a:ext cx="7204850" cy="689644"/>
          </a:xfrm>
          <a:prstGeom prst="rect">
            <a:avLst/>
          </a:prstGeom>
          <a:solidFill>
            <a:srgbClr val="95B3C5"/>
          </a:solidFill>
          <a:ln>
            <a:noFill/>
          </a:ln>
        </p:spPr>
        <p:txBody>
          <a:bodyPr anchor="ctr" bIns="45644" lIns="91302" rIns="91302" tIns="45644"/>
          <a:lstStyle>
            <a:lvl1pPr defTabSz="684530" eaLnBrk="0" hangingPunct="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1pPr>
            <a:lvl2pPr defTabSz="684530" eaLnBrk="0" hangingPunct="0" indent="-285750" marL="74295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2pPr>
            <a:lvl3pPr defTabSz="684530" eaLnBrk="0" hangingPunct="0" indent="-228600" marL="114300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3pPr>
            <a:lvl4pPr defTabSz="684530" eaLnBrk="0" hangingPunct="0" indent="-228600" marL="160020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4pPr>
            <a:lvl5pPr defTabSz="684530" eaLnBrk="0" hangingPunct="0" indent="-228600" marL="205740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5pPr>
            <a:lvl6pPr defTabSz="684530" eaLnBrk="0" fontAlgn="base" hangingPunct="0" indent="-228600" marL="25146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6pPr>
            <a:lvl7pPr defTabSz="684530" eaLnBrk="0" fontAlgn="base" hangingPunct="0" indent="-228600" marL="29718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7pPr>
            <a:lvl8pPr defTabSz="684530" eaLnBrk="0" fontAlgn="base" hangingPunct="0" indent="-228600" marL="34290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8pPr>
            <a:lvl9pPr defTabSz="684530" eaLnBrk="0" fontAlgn="base" hangingPunct="0" indent="-228600" marL="38862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9pPr>
          </a:lstStyle>
          <a:p>
            <a:pPr fontAlgn="base" indent="342900" marL="266700">
              <a:spcBef>
                <a:spcPct val="0"/>
              </a:spcBef>
              <a:spcAft>
                <a:spcPct val="0"/>
              </a:spcAft>
            </a:pPr>
            <a:r>
              <a:rPr altLang="en-US" b="1" dirty="0" lang="zh-CN" sz="1400">
                <a:solidFill>
                  <a:schemeClr val="tx2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04</a:t>
            </a:r>
            <a:r>
              <a:rPr altLang="en-US" b="1" dirty="0" lang="zh-CN" sz="1400">
                <a:solidFill>
                  <a:srgbClr val="FFFFFF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>围绕课堂可用性、正式教案与示范应用继续推进</a:t>
            </a:r>
            <a:r>
              <a:rPr altLang="zh-CN" b="1" dirty="0" lang="en-US" sz="1400">
                <a:solidFill>
                  <a:schemeClr val="accent2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400">
                <a:solidFill>
                  <a:schemeClr val="accent2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400">
                <a:solidFill>
                  <a:srgbClr val="FFFFFF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zh-CN" b="1" dirty="0" lang="en-US" sz="1400">
                <a:solidFill>
                  <a:schemeClr val="accent2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400">
                <a:solidFill>
                  <a:schemeClr val="accent2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400">
                <a:solidFill>
                  <a:srgbClr val="FFFFFF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zh-CN" b="1" dirty="0" lang="en-US" sz="1400">
                <a:solidFill>
                  <a:srgbClr val="FFFFFF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400">
                <a:solidFill>
                  <a:srgbClr val="FFFFFF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400">
                <a:solidFill>
                  <a:srgbClr val="FFFFFF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b="1" dirty="0" lang="zh-CN" sz="1400">
              <a:solidFill>
                <a:srgbClr val="FFFFFF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7" name="矩形 13"/>
          <p:cNvSpPr>
            <a:spLocks noChangeArrowheads="1"/>
          </p:cNvSpPr>
          <p:nvPr/>
        </p:nvSpPr>
        <p:spPr bwMode="auto">
          <a:xfrm>
            <a:off x="967550" y="2357857"/>
            <a:ext cx="7204850" cy="689644"/>
          </a:xfrm>
          <a:prstGeom prst="rect">
            <a:avLst/>
          </a:prstGeom>
          <a:solidFill>
            <a:srgbClr val="95B3C5"/>
          </a:solidFill>
          <a:ln>
            <a:noFill/>
          </a:ln>
        </p:spPr>
        <p:txBody>
          <a:bodyPr anchor="ctr" bIns="45644" lIns="91302" rIns="91302" tIns="45644"/>
          <a:lstStyle/>
          <a:p>
            <a:pPr defTabSz="684530" fontAlgn="base" indent="342900" marL="266700">
              <a:spcBef>
                <a:spcPct val="0"/>
              </a:spcBef>
              <a:spcAft>
                <a:spcPct val="0"/>
              </a:spcAft>
            </a:pPr>
            <a:r>
              <a:rPr altLang="en-US" b="1" dirty="0" lang="zh-CN" sz="1400">
                <a:solidFill>
                  <a:schemeClr val="tx2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400">
                <a:solidFill>
                  <a:schemeClr val="bg1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zh-CN" b="1" dirty="0" lang="en-US" sz="1400">
                <a:solidFill>
                  <a:schemeClr val="accent2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400">
                <a:solidFill>
                  <a:schemeClr val="accent2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400">
                <a:solidFill>
                  <a:srgbClr val="FFFFFF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400">
                <a:solidFill>
                  <a:schemeClr val="accent2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400">
                <a:solidFill>
                  <a:srgbClr val="FFFFFF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400">
                <a:solidFill>
                  <a:schemeClr val="accent2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400">
                <a:solidFill>
                  <a:srgbClr val="FFFFFF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400">
                <a:solidFill>
                  <a:schemeClr val="accent2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400">
                <a:solidFill>
                  <a:srgbClr val="FFFFFF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zh-CN" b="1" dirty="0" lang="en-US" sz="1400">
                <a:solidFill>
                  <a:schemeClr val="accent2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400">
                <a:solidFill>
                  <a:schemeClr val="accent2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zh-CN" b="1" dirty="0" lang="en-US" sz="1400">
                <a:solidFill>
                  <a:schemeClr val="accent2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400">
                <a:solidFill>
                  <a:schemeClr val="bg1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b="1" dirty="0" lang="zh-CN" sz="1400">
              <a:solidFill>
                <a:schemeClr val="bg1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8" name="矩形 14"/>
          <p:cNvSpPr>
            <a:spLocks noChangeArrowheads="1"/>
          </p:cNvSpPr>
          <p:nvPr/>
        </p:nvSpPr>
        <p:spPr bwMode="auto">
          <a:xfrm>
            <a:off x="967550" y="3119509"/>
            <a:ext cx="7204850" cy="689644"/>
          </a:xfrm>
          <a:prstGeom prst="rect">
            <a:avLst/>
          </a:prstGeom>
          <a:solidFill>
            <a:srgbClr val="95B3C5"/>
          </a:solidFill>
          <a:ln>
            <a:noFill/>
          </a:ln>
        </p:spPr>
        <p:txBody>
          <a:bodyPr anchor="ctr" bIns="45644" lIns="91302" rIns="91302" tIns="45644"/>
          <a:lstStyle>
            <a:lvl1pPr defTabSz="684530" eaLnBrk="0" hangingPunct="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1pPr>
            <a:lvl2pPr defTabSz="684530" eaLnBrk="0" hangingPunct="0" indent="-285750" marL="74295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2pPr>
            <a:lvl3pPr defTabSz="684530" eaLnBrk="0" hangingPunct="0" indent="-228600" marL="114300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3pPr>
            <a:lvl4pPr defTabSz="684530" eaLnBrk="0" hangingPunct="0" indent="-228600" marL="160020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4pPr>
            <a:lvl5pPr defTabSz="684530" eaLnBrk="0" hangingPunct="0" indent="-228600" marL="205740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5pPr>
            <a:lvl6pPr defTabSz="684530" eaLnBrk="0" fontAlgn="base" hangingPunct="0" indent="-228600" marL="25146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6pPr>
            <a:lvl7pPr defTabSz="684530" eaLnBrk="0" fontAlgn="base" hangingPunct="0" indent="-228600" marL="29718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7pPr>
            <a:lvl8pPr defTabSz="684530" eaLnBrk="0" fontAlgn="base" hangingPunct="0" indent="-228600" marL="34290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8pPr>
            <a:lvl9pPr defTabSz="684530" eaLnBrk="0" fontAlgn="base" hangingPunct="0" indent="-228600" marL="38862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9pPr>
          </a:lstStyle>
          <a:p>
            <a:pPr fontAlgn="base" indent="342900" marL="266700">
              <a:spcBef>
                <a:spcPct val="0"/>
              </a:spcBef>
              <a:spcAft>
                <a:spcPct val="0"/>
              </a:spcAft>
            </a:pPr>
            <a:r>
              <a:rPr altLang="en-US" b="1" dirty="0" lang="zh-CN" sz="1400">
                <a:solidFill>
                  <a:schemeClr val="tx2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400">
                <a:solidFill>
                  <a:srgbClr val="FFFFFF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400">
                <a:solidFill>
                  <a:schemeClr val="accent2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400">
                <a:solidFill>
                  <a:srgbClr val="FFFFFF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b="1" dirty="0" lang="zh-CN" sz="1400">
              <a:solidFill>
                <a:srgbClr val="FFFFFF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9" name="矩形 10"/>
          <p:cNvSpPr>
            <a:spLocks noChangeArrowheads="1"/>
          </p:cNvSpPr>
          <p:nvPr/>
        </p:nvSpPr>
        <p:spPr bwMode="auto">
          <a:xfrm>
            <a:off x="967550" y="1606706"/>
            <a:ext cx="120650" cy="689644"/>
          </a:xfrm>
          <a:prstGeom prst="rect">
            <a:avLst/>
          </a:prstGeom>
          <a:solidFill>
            <a:srgbClr val="294668"/>
          </a:solidFill>
          <a:ln>
            <a:noFill/>
          </a:ln>
        </p:spPr>
        <p:txBody>
          <a:bodyPr anchor="ctr" bIns="45644" lIns="91302" rIns="91302" tIns="45644"/>
          <a:lstStyle>
            <a:lvl1pPr defTabSz="684530" eaLnBrk="0" hangingPunct="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1pPr>
            <a:lvl2pPr defTabSz="684530" eaLnBrk="0" hangingPunct="0" indent="-285750" marL="74295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2pPr>
            <a:lvl3pPr defTabSz="684530" eaLnBrk="0" hangingPunct="0" indent="-228600" marL="114300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3pPr>
            <a:lvl4pPr defTabSz="684530" eaLnBrk="0" hangingPunct="0" indent="-228600" marL="160020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4pPr>
            <a:lvl5pPr defTabSz="684530" eaLnBrk="0" hangingPunct="0" indent="-228600" marL="205740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5pPr>
            <a:lvl6pPr defTabSz="684530" eaLnBrk="0" fontAlgn="base" hangingPunct="0" indent="-228600" marL="25146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6pPr>
            <a:lvl7pPr defTabSz="684530" eaLnBrk="0" fontAlgn="base" hangingPunct="0" indent="-228600" marL="29718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7pPr>
            <a:lvl8pPr defTabSz="684530" eaLnBrk="0" fontAlgn="base" hangingPunct="0" indent="-228600" marL="34290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8pPr>
            <a:lvl9pPr defTabSz="684530" eaLnBrk="0" fontAlgn="base" hangingPunct="0" indent="-228600" marL="38862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altLang="en-US" b="1" lang="zh-CN">
              <a:solidFill>
                <a:srgbClr val="FFFFFF"/>
              </a:solidFill>
            </a:endParaRPr>
          </a:p>
        </p:txBody>
      </p:sp>
      <p:sp>
        <p:nvSpPr>
          <p:cNvPr id="10" name="矩形 15"/>
          <p:cNvSpPr>
            <a:spLocks noChangeArrowheads="1"/>
          </p:cNvSpPr>
          <p:nvPr/>
        </p:nvSpPr>
        <p:spPr bwMode="auto">
          <a:xfrm>
            <a:off x="967550" y="2359127"/>
            <a:ext cx="120650" cy="689644"/>
          </a:xfrm>
          <a:prstGeom prst="rect">
            <a:avLst/>
          </a:prstGeom>
          <a:solidFill>
            <a:srgbClr val="294668"/>
          </a:solidFill>
          <a:ln>
            <a:noFill/>
          </a:ln>
        </p:spPr>
        <p:txBody>
          <a:bodyPr anchor="ctr" bIns="45644" lIns="91302" rIns="91302" tIns="45644"/>
          <a:lstStyle>
            <a:lvl1pPr defTabSz="684530" eaLnBrk="0" hangingPunct="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1pPr>
            <a:lvl2pPr defTabSz="684530" eaLnBrk="0" hangingPunct="0" indent="-285750" marL="74295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2pPr>
            <a:lvl3pPr defTabSz="684530" eaLnBrk="0" hangingPunct="0" indent="-228600" marL="114300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3pPr>
            <a:lvl4pPr defTabSz="684530" eaLnBrk="0" hangingPunct="0" indent="-228600" marL="160020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4pPr>
            <a:lvl5pPr defTabSz="684530" eaLnBrk="0" hangingPunct="0" indent="-228600" marL="205740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5pPr>
            <a:lvl6pPr defTabSz="684530" eaLnBrk="0" fontAlgn="base" hangingPunct="0" indent="-228600" marL="25146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6pPr>
            <a:lvl7pPr defTabSz="684530" eaLnBrk="0" fontAlgn="base" hangingPunct="0" indent="-228600" marL="29718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7pPr>
            <a:lvl8pPr defTabSz="684530" eaLnBrk="0" fontAlgn="base" hangingPunct="0" indent="-228600" marL="34290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8pPr>
            <a:lvl9pPr defTabSz="684530" eaLnBrk="0" fontAlgn="base" hangingPunct="0" indent="-228600" marL="38862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altLang="en-US" b="1" lang="zh-CN">
              <a:solidFill>
                <a:srgbClr val="FFFFFF"/>
              </a:solidFill>
            </a:endParaRPr>
          </a:p>
        </p:txBody>
      </p:sp>
      <p:sp>
        <p:nvSpPr>
          <p:cNvPr id="11" name="矩形 16"/>
          <p:cNvSpPr>
            <a:spLocks noChangeArrowheads="1"/>
          </p:cNvSpPr>
          <p:nvPr/>
        </p:nvSpPr>
        <p:spPr bwMode="auto">
          <a:xfrm>
            <a:off x="967550" y="3119509"/>
            <a:ext cx="120650" cy="689644"/>
          </a:xfrm>
          <a:prstGeom prst="rect">
            <a:avLst/>
          </a:prstGeom>
          <a:solidFill>
            <a:srgbClr val="294668"/>
          </a:solidFill>
          <a:ln>
            <a:noFill/>
          </a:ln>
        </p:spPr>
        <p:txBody>
          <a:bodyPr anchor="ctr" bIns="45644" lIns="91302" rIns="91302" tIns="45644"/>
          <a:lstStyle>
            <a:lvl1pPr defTabSz="684530" eaLnBrk="0" hangingPunct="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1pPr>
            <a:lvl2pPr defTabSz="684530" eaLnBrk="0" hangingPunct="0" indent="-285750" marL="74295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2pPr>
            <a:lvl3pPr defTabSz="684530" eaLnBrk="0" hangingPunct="0" indent="-228600" marL="114300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3pPr>
            <a:lvl4pPr defTabSz="684530" eaLnBrk="0" hangingPunct="0" indent="-228600" marL="160020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4pPr>
            <a:lvl5pPr defTabSz="684530" eaLnBrk="0" hangingPunct="0" indent="-228600" marL="205740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5pPr>
            <a:lvl6pPr defTabSz="684530" eaLnBrk="0" fontAlgn="base" hangingPunct="0" indent="-228600" marL="25146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6pPr>
            <a:lvl7pPr defTabSz="684530" eaLnBrk="0" fontAlgn="base" hangingPunct="0" indent="-228600" marL="29718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7pPr>
            <a:lvl8pPr defTabSz="684530" eaLnBrk="0" fontAlgn="base" hangingPunct="0" indent="-228600" marL="34290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8pPr>
            <a:lvl9pPr defTabSz="684530" eaLnBrk="0" fontAlgn="base" hangingPunct="0" indent="-228600" marL="38862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altLang="en-US" b="1" lang="zh-CN">
              <a:solidFill>
                <a:srgbClr val="FFFFFF"/>
              </a:solidFill>
            </a:endParaRPr>
          </a:p>
        </p:txBody>
      </p:sp>
      <p:sp>
        <p:nvSpPr>
          <p:cNvPr id="12" name="矩形 14"/>
          <p:cNvSpPr>
            <a:spLocks noChangeArrowheads="1"/>
          </p:cNvSpPr>
          <p:nvPr/>
        </p:nvSpPr>
        <p:spPr bwMode="auto">
          <a:xfrm>
            <a:off x="967550" y="3882569"/>
            <a:ext cx="7204850" cy="689644"/>
          </a:xfrm>
          <a:prstGeom prst="rect">
            <a:avLst/>
          </a:prstGeom>
          <a:solidFill>
            <a:srgbClr val="95B3C5"/>
          </a:solidFill>
          <a:ln>
            <a:noFill/>
          </a:ln>
        </p:spPr>
        <p:txBody>
          <a:bodyPr anchor="ctr" bIns="45644" lIns="91302" rIns="91302" tIns="45644"/>
          <a:lstStyle>
            <a:lvl1pPr defTabSz="684530" eaLnBrk="0" hangingPunct="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1pPr>
            <a:lvl2pPr defTabSz="684530" eaLnBrk="0" hangingPunct="0" indent="-285750" marL="74295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2pPr>
            <a:lvl3pPr defTabSz="684530" eaLnBrk="0" hangingPunct="0" indent="-228600" marL="114300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3pPr>
            <a:lvl4pPr defTabSz="684530" eaLnBrk="0" hangingPunct="0" indent="-228600" marL="160020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4pPr>
            <a:lvl5pPr defTabSz="684530" eaLnBrk="0" hangingPunct="0" indent="-228600" marL="205740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5pPr>
            <a:lvl6pPr defTabSz="684530" eaLnBrk="0" fontAlgn="base" hangingPunct="0" indent="-228600" marL="25146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6pPr>
            <a:lvl7pPr defTabSz="684530" eaLnBrk="0" fontAlgn="base" hangingPunct="0" indent="-228600" marL="29718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7pPr>
            <a:lvl8pPr defTabSz="684530" eaLnBrk="0" fontAlgn="base" hangingPunct="0" indent="-228600" marL="34290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8pPr>
            <a:lvl9pPr defTabSz="684530" eaLnBrk="0" fontAlgn="base" hangingPunct="0" indent="-228600" marL="38862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9pPr>
          </a:lstStyle>
          <a:p>
            <a:pPr fontAlgn="base" indent="342900" marL="266700">
              <a:spcBef>
                <a:spcPct val="0"/>
              </a:spcBef>
              <a:spcAft>
                <a:spcPct val="0"/>
              </a:spcAft>
            </a:pPr>
            <a:endParaRPr altLang="en-US" b="1" dirty="0" lang="zh-CN" sz="1400">
              <a:solidFill>
                <a:srgbClr val="FFFFFF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fontAlgn="base" indent="342900" marL="266700">
              <a:spcBef>
                <a:spcPct val="0"/>
              </a:spcBef>
              <a:spcAft>
                <a:spcPct val="0"/>
              </a:spcAft>
            </a:pPr>
            <a:endParaRPr altLang="en-US" b="1" dirty="0" lang="zh-CN" sz="1400">
              <a:solidFill>
                <a:srgbClr val="FFFFFF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fontAlgn="base" indent="342900" marL="266700">
              <a:spcBef>
                <a:spcPct val="0"/>
              </a:spcBef>
              <a:spcAft>
                <a:spcPct val="0"/>
              </a:spcAft>
            </a:pPr>
            <a:r>
              <a:rPr altLang="en-US" b="1" dirty="0" lang="zh-CN" sz="1400">
                <a:solidFill>
                  <a:schemeClr val="tx2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400">
                <a:solidFill>
                  <a:srgbClr val="FFFFFF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400">
                <a:solidFill>
                  <a:schemeClr val="accent2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zh-CN" b="1" dirty="0" lang="en-US" sz="1400">
                <a:solidFill>
                  <a:schemeClr val="accent2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zh-CN" b="1" dirty="0" lang="en-US" sz="1400">
                <a:solidFill>
                  <a:srgbClr val="FFFFFF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r>
              <a:rPr altLang="en-US" b="1" dirty="0" lang="zh-CN" sz="1400">
                <a:solidFill>
                  <a:srgbClr val="FFFFFF"/>
                </a:solidFill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b="1" dirty="0" lang="zh-CN" sz="1400">
              <a:solidFill>
                <a:srgbClr val="FFFFFF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fontAlgn="base" indent="342900" marL="266700">
              <a:spcBef>
                <a:spcPct val="0"/>
              </a:spcBef>
              <a:spcAft>
                <a:spcPct val="0"/>
              </a:spcAft>
            </a:pPr>
            <a:endParaRPr altLang="zh-CN" b="1" dirty="0" lang="en-US" sz="1400">
              <a:solidFill>
                <a:srgbClr val="FFFFFF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  <a:p>
            <a:pPr fontAlgn="base" indent="342900" marL="266700">
              <a:spcBef>
                <a:spcPct val="0"/>
              </a:spcBef>
              <a:spcAft>
                <a:spcPct val="0"/>
              </a:spcAft>
            </a:pPr>
            <a:endParaRPr altLang="zh-CN" b="1" dirty="0" lang="en-US" sz="1400">
              <a:solidFill>
                <a:srgbClr val="FFFFFF"/>
              </a:solidFill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  <p:sp>
        <p:nvSpPr>
          <p:cNvPr id="13" name="矩形 16"/>
          <p:cNvSpPr>
            <a:spLocks noChangeArrowheads="1"/>
          </p:cNvSpPr>
          <p:nvPr/>
        </p:nvSpPr>
        <p:spPr bwMode="auto">
          <a:xfrm>
            <a:off x="967550" y="3884383"/>
            <a:ext cx="120650" cy="689644"/>
          </a:xfrm>
          <a:prstGeom prst="rect">
            <a:avLst/>
          </a:prstGeom>
          <a:solidFill>
            <a:srgbClr val="294668"/>
          </a:solidFill>
          <a:ln>
            <a:noFill/>
          </a:ln>
        </p:spPr>
        <p:txBody>
          <a:bodyPr anchor="ctr" bIns="45644" lIns="91302" rIns="91302" tIns="45644"/>
          <a:lstStyle>
            <a:lvl1pPr defTabSz="684530" eaLnBrk="0" hangingPunct="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1pPr>
            <a:lvl2pPr defTabSz="684530" eaLnBrk="0" hangingPunct="0" indent="-285750" marL="74295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2pPr>
            <a:lvl3pPr defTabSz="684530" eaLnBrk="0" hangingPunct="0" indent="-228600" marL="114300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3pPr>
            <a:lvl4pPr defTabSz="684530" eaLnBrk="0" hangingPunct="0" indent="-228600" marL="160020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4pPr>
            <a:lvl5pPr defTabSz="684530" eaLnBrk="0" hangingPunct="0" indent="-228600" marL="2057400"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5pPr>
            <a:lvl6pPr defTabSz="684530" eaLnBrk="0" fontAlgn="base" hangingPunct="0" indent="-228600" marL="25146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6pPr>
            <a:lvl7pPr defTabSz="684530" eaLnBrk="0" fontAlgn="base" hangingPunct="0" indent="-228600" marL="29718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7pPr>
            <a:lvl8pPr defTabSz="684530" eaLnBrk="0" fontAlgn="base" hangingPunct="0" indent="-228600" marL="34290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8pPr>
            <a:lvl9pPr defTabSz="684530" eaLnBrk="0" fontAlgn="base" hangingPunct="0" indent="-228600" marL="3886200">
              <a:spcBef>
                <a:spcPct val="0"/>
              </a:spcBef>
              <a:spcAft>
                <a:spcPct val="0"/>
              </a:spcAft>
              <a:defRPr>
                <a:solidFill>
                  <a:srgbClr val="4D4D4D"/>
                </a:solidFill>
                <a:latin charset="0" panose="020B0604020202020204" pitchFamily="34" typeface="Arial"/>
                <a:ea charset="-122" panose="02010609060101010101" pitchFamily="49" typeface="黑体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altLang="en-US" b="1" lang="zh-CN">
              <a:solidFill>
                <a:srgbClr val="FFFFFF"/>
              </a:solidFill>
            </a:endParaRPr>
          </a:p>
        </p:txBody>
      </p:sp>
      <p:sp>
        <p:nvSpPr>
          <p:cNvPr id="14" name="TextBox 1"/>
          <p:cNvSpPr txBox="1"/>
          <p:nvPr/>
        </p:nvSpPr>
        <p:spPr>
          <a:xfrm>
            <a:off x="493838" y="276665"/>
            <a:ext cx="557530" cy="459105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pPr algn="l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zh-CN" b="1" baseline="0" cap="none" dirty="0" i="0" kern="1200" kumimoji="0" lang="en-US" noProof="0" normalizeH="0" spc="0" strike="noStrike" sz="24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endParaRPr altLang="en-US" b="1" baseline="0" cap="none" dirty="0" i="0" kern="1200" kumimoji="0" lang="zh-CN" noProof="0" normalizeH="0" spc="0" strike="noStrike" sz="24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15" name="TextBox 2"/>
          <p:cNvSpPr txBox="1"/>
          <p:nvPr/>
        </p:nvSpPr>
        <p:spPr>
          <a:xfrm>
            <a:off x="1403648" y="321068"/>
            <a:ext cx="2010410" cy="367030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pPr algn="l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1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294668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  <a:sym typeface="+mn-ea"/>
              </a:rPr>
              <a:t/>
            </a:r>
            <a:endParaRPr altLang="en-US" b="1" baseline="0" cap="none" dirty="0" i="0" kern="1200" kumimoji="0" lang="zh-CN" noProof="0" normalizeH="0" spc="0" strike="noStrike" sz="1800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62472" y="2752346"/>
            <a:ext cx="1400810" cy="459105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>
            <a:defPPr>
              <a:defRPr lang="zh-CN"/>
            </a:defPPr>
            <a:lvl1pPr>
              <a:defRPr b="1" sz="2400">
                <a:solidFill>
                  <a:srgbClr val="294668"/>
                </a:solidFill>
                <a:effectLst>
                  <a:outerShdw algn="tl" blurRad="38100" dir="2400000" dist="76200" rotWithShape="0">
                    <a:schemeClr val="bg1">
                      <a:alpha val="69000"/>
                    </a:schemeClr>
                  </a:outerShdw>
                </a:effectLst>
                <a:latin charset="-122" panose="020B0503020204020204" pitchFamily="34" typeface="微软雅黑"/>
                <a:ea charset="-122" panose="020B0503020204020204" pitchFamily="34" typeface="微软雅黑"/>
              </a:defRPr>
            </a:lvl1pPr>
          </a:lstStyle>
          <a:p>
            <a:pPr algn="l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1" baseline="0" cap="none" dirty="0" i="0" kern="1200" kumimoji="0" lang="zh-CN" noProof="0" normalizeH="0" spc="0" strike="noStrike" sz="2400" u="none">
                <a:ln>
                  <a:noFill/>
                </a:ln>
                <a:solidFill>
                  <a:srgbClr val="294668"/>
                </a:solidFill>
                <a:effectLst>
                  <a:outerShdw algn="tl" blurRad="38100" dir="2400000" dist="76200" rotWithShape="0">
                    <a:prstClr val="white">
                      <a:alpha val="69000"/>
                    </a:prstClr>
                  </a:outerShdw>
                </a:effectLst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  <a:sym typeface="+mn-ea"/>
              </a:rPr>
              <a:t>04 后续计划</a:t>
            </a:r>
            <a:endParaRPr altLang="en-US" b="1" baseline="0" cap="none" dirty="0" i="0" kern="1200" kumimoji="0" lang="zh-CN" noProof="0" normalizeH="0" spc="0" strike="noStrike" sz="2400" u="none">
              <a:ln>
                <a:noFill/>
              </a:ln>
              <a:solidFill>
                <a:srgbClr val="294668"/>
              </a:solidFill>
              <a:effectLst>
                <a:outerShdw algn="tl" blurRad="38100" dir="2400000" dist="76200" rotWithShape="0">
                  <a:prstClr val="white">
                    <a:alpha val="69000"/>
                  </a:prstClr>
                </a:outerShdw>
              </a:effectLst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8724" y="2089363"/>
            <a:ext cx="1752298" cy="1785052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pPr algn="l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zh-CN" b="0" baseline="0" cap="none" dirty="0" i="0" kern="1200" kumimoji="0" lang="en-US" noProof="0" normalizeH="0" spc="0" strike="noStrike" sz="110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0" panose="020B0604020202020204" pitchFamily="34" typeface="Arial"/>
                <a:ea charset="-122" panose="020B0503020204020204" pitchFamily="34" typeface="微软雅黑"/>
                <a:cs charset="0" panose="020B0604020202020204" pitchFamily="34" typeface="Arial"/>
              </a:rPr>
              <a:t>5-6月：稳定课堂模式与知识库。</a:t>
            </a:r>
            <a:endParaRPr altLang="en-US" b="0" baseline="0" cap="none" dirty="0" i="0" kern="1200" kumimoji="0" lang="zh-CN" noProof="0" normalizeH="0" spc="0" strike="noStrike" sz="110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0" panose="020B0604020202020204" pitchFamily="34" typeface="Arial"/>
              <a:ea charset="-122" panose="020B0503020204020204" pitchFamily="34" typeface="微软雅黑"/>
              <a:cs charset="0" panose="020B0604020202020204" pitchFamily="34"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838" y="276665"/>
            <a:ext cx="562870" cy="461612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pPr algn="l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zh-CN" b="1" baseline="0" cap="none" dirty="0" i="0" kern="1200" kumimoji="0" lang="en-US" noProof="0" normalizeH="0" spc="0" strike="noStrike" sz="24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04 预期成果</a:t>
            </a:r>
            <a:endParaRPr altLang="en-US" b="1" baseline="0" cap="none" dirty="0" i="0" kern="1200" kumimoji="0" lang="zh-CN" noProof="0" normalizeH="0" spc="0" strike="noStrike" sz="24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03648" y="321068"/>
            <a:ext cx="1781810" cy="367030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pPr algn="l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1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294668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  <a:sym typeface="+mn-ea"/>
              </a:rPr>
              <a:t>一套 WebGIS-AI 原型系统。</a:t>
            </a:r>
            <a:r>
              <a:rPr altLang="en-US" b="1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294668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  <a:sym typeface="+mn-ea"/>
              </a:rPr>
              <a:t>一批可复用地理教学数据与知识库条目。</a:t>
            </a:r>
            <a:endParaRPr altLang="en-US" b="1" baseline="0" cap="none" dirty="0" i="0" kern="1200" kumimoji="0" lang="zh-CN" noProof="0" normalizeH="0" spc="0" strike="noStrike" sz="1800" u="none">
              <a:ln>
                <a:noFill/>
              </a:ln>
              <a:solidFill>
                <a:srgbClr val="294668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44008" y="851535"/>
            <a:ext cx="7331716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66700" eaLnBrk="1" fontAlgn="auto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  <a:sym typeface="+mn-ea"/>
              </a:rPr>
              <a:t>若干课堂演示案例：人口、气候、区位、读图。</a:t>
            </a:r>
            <a:r>
              <a:rPr altLang="en-US" b="1" baseline="0" cap="none" dirty="0" i="0" kern="1200" kumimoji="0" lang="zh-CN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  <a:sym typeface="+mn-ea"/>
              </a:rPr>
              <a:t>系统测试报告与教师使用说明。</a:t>
            </a:r>
            <a:r>
              <a:rPr altLang="en-US" b="0" baseline="0" cap="none" dirty="0" i="0" kern="1200" kumimoji="0" lang="zh-CN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  <a:sym typeface="+mn-ea"/>
              </a:rPr>
              <a:t>项目总结报告、论文或课程研究成果。</a:t>
            </a:r>
            <a:r>
              <a:rPr altLang="en-US" b="0" baseline="0" cap="none" dirty="0" i="0" kern="1200" kumimoji="0" lang="zh-CN" noProof="0" normalizeH="0" spc="0" strike="noStrike" sz="16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  <a:sym typeface="+mn-ea"/>
              </a:rPr>
              <a:t>软件著作权申请材料。</a:t>
            </a:r>
            <a:endParaRPr altLang="en-US" b="0" baseline="0" cap="none" dirty="0" i="0" kern="1200" kumimoji="0" lang="zh-CN" noProof="0" normalizeH="0" spc="0" strike="noStrike" sz="1600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206843" y="1477762"/>
            <a:ext cx="1296144" cy="2366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8" name="文本框 27"/>
          <p:cNvSpPr txBox="1"/>
          <p:nvPr/>
        </p:nvSpPr>
        <p:spPr>
          <a:xfrm>
            <a:off x="4722566" y="3003798"/>
            <a:ext cx="546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baseline="0" cap="none" dirty="0" i="0" kern="1200" kumimoji="0" lang="en-US" noProof="0" normalizeH="0" spc="0" strike="noStrike" sz="18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  <a:sym typeface="+mn-ea"/>
              </a:rPr>
              <a:t/>
            </a:r>
            <a:endParaRPr altLang="en-US" dirty="0" lang="zh-CN"/>
          </a:p>
        </p:txBody>
      </p:sp>
      <p:sp>
        <p:nvSpPr>
          <p:cNvPr id="29" name="文本框 28"/>
          <p:cNvSpPr txBox="1"/>
          <p:nvPr/>
        </p:nvSpPr>
        <p:spPr>
          <a:xfrm>
            <a:off x="7740352" y="3075807"/>
            <a:ext cx="936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baseline="0" cap="none" dirty="0" i="0" kern="1200" kumimoji="0" lang="en-US" noProof="0" normalizeH="0" spc="0" strike="noStrike" sz="18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  <a:sym typeface="+mn-ea"/>
              </a:rPr>
              <a:t/>
            </a:r>
            <a:endParaRPr altLang="en-US" dirty="0" lang="zh-CN"/>
          </a:p>
        </p:txBody>
      </p:sp>
      <p:sp>
        <p:nvSpPr>
          <p:cNvPr id="34" name="箭头: 五边形 33"/>
          <p:cNvSpPr/>
          <p:nvPr/>
        </p:nvSpPr>
        <p:spPr>
          <a:xfrm>
            <a:off x="5796136" y="2211711"/>
            <a:ext cx="1224136" cy="360040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altLang="en-US" dirty="0" lang="zh-CN">
                <a:latin charset="-122" panose="020B0503020204020204" pitchFamily="34" typeface="微软雅黑"/>
                <a:ea charset="-122" panose="020B0503020204020204" pitchFamily="34" typeface="微软雅黑"/>
              </a:rPr>
              <a:t/>
            </a:r>
            <a:endParaRPr altLang="en-US" dirty="0" lang="zh-CN">
              <a:latin charset="-122" panose="020B0503020204020204" pitchFamily="34" typeface="微软雅黑"/>
              <a:ea charset="-122" panose="020B0503020204020204" pitchFamily="34"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838" y="276665"/>
            <a:ext cx="557530" cy="459105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pPr algn="l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zh-CN" b="1" baseline="0" cap="none" dirty="0" i="0" kern="1200" kumimoji="0" lang="en-US" noProof="0" normalizeH="0" spc="0" strike="noStrike" sz="24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答辩重点</a:t>
            </a:r>
            <a:endParaRPr altLang="zh-CN" b="1" baseline="0" cap="none" dirty="0" i="0" kern="1200" kumimoji="0" lang="en-US" noProof="0" normalizeH="0" spc="0" strike="noStrike" sz="24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070950" y="1938637"/>
            <a:ext cx="47418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1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项目计划</a:t>
            </a:r>
            <a:endParaRPr altLang="zh-CN" b="1" baseline="0" cap="none" dirty="0" i="0" kern="1200" kumimoji="0" lang="en-US" noProof="0" normalizeH="0" spc="0" strike="noStrike" sz="14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  <a:p>
            <a:pPr algn="ctr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altLang="zh-CN" b="1" baseline="0" cap="none" dirty="0" i="0" kern="1200" kumimoji="0" lang="en-US" noProof="0" normalizeH="0" spc="0" strike="noStrike" sz="14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  <a:p>
            <a:pPr algn="ctr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1" baseline="0" cap="none" dirty="0" i="0" kern="1200" kumimoji="0" lang="zh-CN" noProof="0" normalizeH="0" spc="0" strike="noStrike" sz="14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面向地理课堂实时 WebGIS 系统。</a:t>
            </a:r>
            <a:endParaRPr altLang="zh-CN" b="1" baseline="0" cap="none" dirty="0" i="0" kern="1200" kumimoji="0" lang="en-US" noProof="0" normalizeH="0" spc="0" strike="noStrike" sz="14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  <a:p>
            <a:pPr algn="ctr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zh-CN" b="1" baseline="0" cap="none" dirty="0" i="0" kern="1200" kumimoji="0" lang="en-US" noProof="0" normalizeH="0" spc="0" strike="noStrike" sz="1400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已取得进展</a:t>
            </a:r>
            <a:endParaRPr altLang="zh-CN" b="1" baseline="0" cap="none" dirty="0" i="0" kern="1200" kumimoji="0" lang="en-US" noProof="0" normalizeH="0" spc="0" strike="noStrike" sz="1400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03648" y="321068"/>
            <a:ext cx="1096010" cy="367030"/>
          </a:xfrm>
          <a:prstGeom prst="rect">
            <a:avLst/>
          </a:prstGeom>
          <a:noFill/>
        </p:spPr>
        <p:txBody>
          <a:bodyPr bIns="45694" lIns="91388" rIns="91388" rtlCol="0" tIns="45694" wrap="none">
            <a:spAutoFit/>
          </a:bodyPr>
          <a:lstStyle/>
          <a:p>
            <a:pPr algn="l" defTabSz="913765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altLang="en-US" b="1" baseline="0" cap="none" dirty="0" i="0" kern="1200" kumimoji="0" lang="zh-CN" noProof="0" normalizeH="0" spc="0" strike="noStrike" sz="1800" u="none">
                <a:ln>
                  <a:noFill/>
                </a:ln>
                <a:solidFill>
                  <a:srgbClr val="294668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前端大屏、后端运行时、MiniMax 助教、知识库和后台 GIS 工作流均已完成基础闭环。</a:t>
            </a:r>
            <a:endParaRPr altLang="en-US" b="1" baseline="0" cap="none" dirty="0" i="0" kern="1200" kumimoji="0" lang="zh-CN" noProof="0" normalizeH="0" spc="0" strike="noStrike" sz="1800" u="none">
              <a:ln>
                <a:noFill/>
              </a:ln>
              <a:solidFill>
                <a:srgbClr val="294668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7995" y="843280"/>
            <a:ext cx="8108950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266700" eaLnBrk="1" fontAlgn="auto" hangingPunct="1" indent="0" latinLnBrk="0" lvl="0" marL="0" marR="0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2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下一步</a:t>
            </a:r>
            <a:endParaRPr altLang="en-US" b="0" baseline="0" cap="none" dirty="0" i="0" kern="1200" kumimoji="0" lang="zh-CN" noProof="0" normalizeH="0" spc="0" strike="noStrike" sz="1200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  <a:p>
            <a:pPr algn="l" defTabSz="266700" eaLnBrk="1" fontAlgn="auto" hangingPunct="1" indent="0" latinLnBrk="0" lvl="0" marL="0" marR="0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2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>以正式教案驱动专题模板和课堂案例建设。</a:t>
            </a:r>
            <a:endParaRPr altLang="en-US" b="0" baseline="0" cap="none" dirty="0" i="0" kern="1200" kumimoji="0" lang="zh-CN" noProof="0" normalizeH="0" spc="0" strike="noStrike" sz="1200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  <a:p>
            <a:pPr algn="l" defTabSz="266700" eaLnBrk="1" fontAlgn="auto" hangingPunct="1" indent="0" latinLnBrk="0" lvl="0" marL="0" marR="0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2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r>
              <a:rPr altLang="en-US" b="0" baseline="0" cap="none" dirty="0" i="0" kern="1200" kumimoji="0" lang="zh-CN" noProof="0" normalizeH="0" spc="0" strike="noStrike" sz="12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  <a:hlinkClick r:id="rId2"/>
              </a:rPr>
              <a:t/>
            </a:r>
            <a:endParaRPr altLang="en-US" b="0" baseline="0" cap="none" dirty="0" i="0" kern="1200" kumimoji="0" lang="zh-CN" noProof="0" normalizeH="0" spc="0" strike="noStrike" sz="1200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  <a:p>
            <a:pPr algn="l" defTabSz="266700" eaLnBrk="1" fontAlgn="auto" hangingPunct="1" indent="0" latinLnBrk="0" lvl="0" marL="0" marR="0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2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endParaRPr altLang="en-US" b="0" baseline="0" cap="none" dirty="0" i="0" kern="1200" kumimoji="0" lang="zh-CN" noProof="0" normalizeH="0" spc="0" strike="noStrike" sz="1200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  <a:p>
            <a:pPr algn="l" defTabSz="266700" eaLnBrk="1" fontAlgn="auto" hangingPunct="1" indent="0" latinLnBrk="0" lvl="0" marL="0" marR="0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2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endParaRPr altLang="en-US" b="0" baseline="0" cap="none" dirty="0" i="0" kern="1200" kumimoji="0" lang="zh-CN" noProof="0" normalizeH="0" spc="0" strike="noStrike" sz="1200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  <a:p>
            <a:pPr algn="l" defTabSz="266700" eaLnBrk="1" fontAlgn="auto" hangingPunct="1" indent="0" latinLnBrk="0" lvl="0" marL="0" marR="0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2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endParaRPr altLang="en-US" b="0" baseline="0" cap="none" dirty="0" i="0" kern="1200" kumimoji="0" lang="zh-CN" noProof="0" normalizeH="0" spc="0" strike="noStrike" sz="1200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  <a:p>
            <a:pPr algn="l" defTabSz="266700" eaLnBrk="1" fontAlgn="auto" hangingPunct="1" indent="0" latinLnBrk="0" lvl="0" marL="0" marR="0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2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endParaRPr altLang="en-US" b="0" baseline="0" cap="none" dirty="0" i="0" kern="1200" kumimoji="0" lang="zh-CN" noProof="0" normalizeH="0" spc="0" strike="noStrike" sz="1200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  <a:p>
            <a:pPr algn="l" defTabSz="266700" eaLnBrk="1" fontAlgn="auto" hangingPunct="1" indent="0" latinLnBrk="0" lvl="0" marL="0" marR="0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2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endParaRPr altLang="en-US" b="0" baseline="0" cap="none" dirty="0" i="0" kern="1200" kumimoji="0" lang="zh-CN" noProof="0" normalizeH="0" spc="0" strike="noStrike" sz="1200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  <a:p>
            <a:pPr algn="l" defTabSz="266700" eaLnBrk="1" fontAlgn="auto" hangingPunct="1" indent="0" latinLnBrk="0" lvl="0" marL="0" marR="0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2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endParaRPr altLang="en-US" b="0" baseline="0" cap="none" dirty="0" i="0" kern="1200" kumimoji="0" lang="zh-CN" noProof="0" normalizeH="0" spc="0" strike="noStrike" sz="1200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  <a:p>
            <a:pPr algn="l" defTabSz="266700" eaLnBrk="1" fontAlgn="auto" hangingPunct="1" indent="0" latinLnBrk="0" lvl="0" marL="0" marR="0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altLang="en-US" b="0" baseline="0" cap="none" dirty="0" i="0" kern="1200" kumimoji="0" lang="zh-CN" noProof="0" normalizeH="0" spc="0" strike="noStrike" sz="1200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charset="-122" panose="020B0503020204020204" pitchFamily="34" typeface="微软雅黑"/>
                <a:ea charset="-122" panose="020B0503020204020204" pitchFamily="34" typeface="微软雅黑"/>
                <a:cs typeface="+mn-cs"/>
              </a:rPr>
              <a:t/>
            </a:r>
            <a:endParaRPr altLang="en-US" b="0" baseline="0" cap="none" dirty="0" i="0" kern="1200" kumimoji="0" lang="zh-CN" noProof="0" normalizeH="0" spc="0" strike="noStrike" sz="1200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charset="-122" panose="020B0503020204020204" pitchFamily="34" typeface="微软雅黑"/>
              <a:ea charset="-122" panose="020B0503020204020204" pitchFamily="34" typeface="微软雅黑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WPP_GENERATEPICTURE" val="1"/>
</p:tagLst>
</file>

<file path=ppt/tags/tag2.xml><?xml version="1.0" encoding="utf-8"?>
<p:tagLst xmlns:p="http://schemas.openxmlformats.org/presentationml/2006/main">
  <p:tag name="WPP_GENERATEPICTURE" val="1"/>
</p:tagLst>
</file>

<file path=ppt/tags/tag3.xml><?xml version="1.0" encoding="utf-8"?>
<p:tagLst xmlns:p="http://schemas.openxmlformats.org/presentationml/2006/main">
  <p:tag name="KSO_WM_DIAGRAM_VIRTUALLY_FRAME" val="{&quot;height&quot;:139.86433070866144,&quot;left&quot;:76.50393700787401,&quot;top&quot;:196.9775590551181,&quot;width&quot;:334.15472440944876}"/>
</p:tagLst>
</file>

<file path=ppt/tags/tag4.xml><?xml version="1.0" encoding="utf-8"?>
<p:tagLst xmlns:p="http://schemas.openxmlformats.org/presentationml/2006/main">
  <p:tag name="KSO_WM_DIAGRAM_VIRTUALLY_FRAME" val="{&quot;height&quot;:139.86433070866144,&quot;left&quot;:76.50393700787401,&quot;top&quot;:196.9775590551181,&quot;width&quot;:334.15472440944876}"/>
</p:tagLst>
</file>

<file path=ppt/tags/tag5.xml><?xml version="1.0" encoding="utf-8"?>
<p:tagLst xmlns:p="http://schemas.openxmlformats.org/presentationml/2006/main">
  <p:tag name="KSO_WM_DIAGRAM_VIRTUALLY_FRAME" val="{&quot;height&quot;:139.86433070866144,&quot;left&quot;:76.50393700787401,&quot;top&quot;:196.9775590551181,&quot;width&quot;:334.15472440944876}"/>
</p:tagLst>
</file>

<file path=ppt/tags/tag6.xml><?xml version="1.0" encoding="utf-8"?>
<p:tagLst xmlns:p="http://schemas.openxmlformats.org/presentationml/2006/main">
  <p:tag name="KSO_WM_DIAGRAM_VIRTUALLY_FRAME" val="{&quot;height&quot;:139.86433070866144,&quot;left&quot;:76.50393700787401,&quot;top&quot;:196.9775590551181,&quot;width&quot;:334.15472440944876}"/>
</p:tagLst>
</file>

<file path=ppt/tags/tag7.xml><?xml version="1.0" encoding="utf-8"?>
<p:tagLst xmlns:p="http://schemas.openxmlformats.org/presentationml/2006/main">
  <p:tag name="KSO_WM_DIAGRAM_VIRTUALLY_FRAME" val="{&quot;height&quot;:139.86433070866144,&quot;left&quot;:76.50393700787401,&quot;top&quot;:196.9775590551181,&quot;width&quot;:334.15472440944876}"/>
</p:tagLst>
</file>

<file path=ppt/tags/tag8.xml><?xml version="1.0" encoding="utf-8"?>
<p:tagLst xmlns:p="http://schemas.openxmlformats.org/presentationml/2006/main">
  <p:tag name="KSO_WM_DIAGRAM_VIRTUALLY_FRAME" val="{&quot;height&quot;:139.86433070866144,&quot;left&quot;:76.50393700787401,&quot;top&quot;:196.9775590551181,&quot;width&quot;:334.15472440944876}"/>
</p:tagLst>
</file>

<file path=ppt/tags/tag9.xml><?xml version="1.0" encoding="utf-8"?>
<p:tagLst xmlns:p="http://schemas.openxmlformats.org/presentationml/2006/main">
  <p:tag name="KSO_WM_UNIT_PIC_EFFECT" val="1"/>
</p:tagLst>
</file>

<file path=ppt/tags/tag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8547_1*i*1"/>
  <p:tag name="KSO_WM_TEMPLATE_CATEGORY" val="custom"/>
  <p:tag name="KSO_WM_TEMPLATE_INDEX" val="20238547"/>
  <p:tag name="KSO_WM_UNIT_LAYERLEVEL" val="1"/>
  <p:tag name="KSO_WM_TAG_VERSION" val="3.0"/>
  <p:tag name="KSO_WM_UNIT_PIC_EFFECT" val="1"/>
</p:tagLst>
</file>

<file path=ppt/tags/tag11.xml><?xml version="1.0" encoding="utf-8"?>
<p:tagLst xmlns:p="http://schemas.openxmlformats.org/presentationml/2006/main">
  <p:tag name="KSO_WM_BEAUTIFY_FLAG" val="#wm#"/>
  <p:tag name="KSO_WM_UNIT_VALUE" val="1343*2407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8547_1*d*1"/>
  <p:tag name="KSO_WM_TEMPLATE_CATEGORY" val="custom"/>
  <p:tag name="KSO_WM_TEMPLATE_INDEX" val="20238547"/>
  <p:tag name="KSO_WM_UNIT_LAYERLEVEL" val="1"/>
  <p:tag name="KSO_WM_TAG_VERSION" val="3.0"/>
  <p:tag name="KSO_WM_UNIT_PIC_EFFECT" val="1"/>
</p:tagLst>
</file>

<file path=ppt/tags/tag12.xml><?xml version="1.0" encoding="utf-8"?>
<p:tagLst xmlns:p="http://schemas.openxmlformats.org/presentationml/2006/main">
  <p:tag name="KSO_WM_DIAGRAM_VIRTUALLY_FRAME" val="{&quot;height&quot;:139.86433070866144,&quot;left&quot;:76.50393700787401,&quot;top&quot;:196.9775590551181,&quot;width&quot;:334.15472440944876}"/>
</p:tagLst>
</file>

<file path=ppt/tags/tag13.xml><?xml version="1.0" encoding="utf-8"?>
<p:tagLst xmlns:p="http://schemas.openxmlformats.org/presentationml/2006/main">
  <p:tag name="KSO_WM_DIAGRAM_VIRTUALLY_FRAME" val="{&quot;height&quot;:139.86433070866144,&quot;left&quot;:76.50393700787401,&quot;top&quot;:196.9775590551181,&quot;width&quot;:334.15472440944876}"/>
</p:tagLst>
</file>

<file path=ppt/tags/tag14.xml><?xml version="1.0" encoding="utf-8"?>
<p:tagLst xmlns:p="http://schemas.openxmlformats.org/presentationml/2006/main">
  <p:tag name="KSO_WM_DIAGRAM_VIRTUALLY_FRAME" val="{&quot;height&quot;:139.86433070866144,&quot;left&quot;:76.50393700787401,&quot;top&quot;:196.9775590551181,&quot;width&quot;:334.15472440944876}"/>
</p:tagLst>
</file>

<file path=ppt/tags/tag15.xml><?xml version="1.0" encoding="utf-8"?>
<p:tagLst xmlns:p="http://schemas.openxmlformats.org/presentationml/2006/main">
  <p:tag name="KSO_WM_DIAGRAM_VIRTUALLY_FRAME" val="{&quot;height&quot;:139.86433070866144,&quot;left&quot;:76.50393700787401,&quot;top&quot;:196.9775590551181,&quot;width&quot;:334.15472440944876}"/>
</p:tagLst>
</file>

<file path=ppt/tags/tag16.xml><?xml version="1.0" encoding="utf-8"?>
<p:tagLst xmlns:p="http://schemas.openxmlformats.org/presentationml/2006/main">
  <p:tag name="KSO_WM_DIAGRAM_VIRTUALLY_FRAME" val="{&quot;height&quot;:139.86433070866144,&quot;left&quot;:76.50393700787401,&quot;top&quot;:196.9775590551181,&quot;width&quot;:334.15472440944876}"/>
</p:tagLst>
</file>

<file path=ppt/tags/tag17.xml><?xml version="1.0" encoding="utf-8"?>
<p:tagLst xmlns:p="http://schemas.openxmlformats.org/presentationml/2006/main">
  <p:tag name="KSO_WM_DIAGRAM_VIRTUALLY_FRAME" val="{&quot;height&quot;:139.86433070866144,&quot;left&quot;:76.50393700787401,&quot;top&quot;:196.9775590551181,&quot;width&quot;:334.15472440944876}"/>
</p:tagLst>
</file>

<file path=ppt/tags/tag18.xml><?xml version="1.0" encoding="utf-8"?>
<p:tagLst xmlns:p="http://schemas.openxmlformats.org/presentationml/2006/main">
  <p:tag name="KSO_WM_UNIT_PIC_EFFECT" val="1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8547_1*i*1"/>
  <p:tag name="KSO_WM_TEMPLATE_CATEGORY" val="custom"/>
  <p:tag name="KSO_WM_TEMPLATE_INDEX" val="20238547"/>
  <p:tag name="KSO_WM_UNIT_LAYERLEVEL" val="1"/>
  <p:tag name="KSO_WM_TAG_VERSION" val="3.0"/>
  <p:tag name="KSO_WM_UNIT_PIC_EFFECT" val="1"/>
</p:tagLst>
</file>

<file path=ppt/tags/tag20.xml><?xml version="1.0" encoding="utf-8"?>
<p:tagLst xmlns:p="http://schemas.openxmlformats.org/presentationml/2006/main">
  <p:tag name="KSO_WM_BEAUTIFY_FLAG" val="#wm#"/>
  <p:tag name="KSO_WM_UNIT_VALUE" val="1343*2407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8547_1*d*1"/>
  <p:tag name="KSO_WM_TEMPLATE_CATEGORY" val="custom"/>
  <p:tag name="KSO_WM_TEMPLATE_INDEX" val="20238547"/>
  <p:tag name="KSO_WM_UNIT_LAYERLEVEL" val="1"/>
  <p:tag name="KSO_WM_TAG_VERSION" val="3.0"/>
  <p:tag name="KSO_WM_UNIT_PIC_EFFECT" val="1"/>
</p:tagLst>
</file>

<file path=ppt/tags/tag21.xml><?xml version="1.0" encoding="utf-8"?>
<p:tagLst xmlns:p="http://schemas.openxmlformats.org/presentationml/2006/main">
  <p:tag name="KSO_WM_DIAGRAM_VIRTUALLY_FRAME" val="{&quot;height&quot;:139.86433070866144,&quot;left&quot;:76.50393700787401,&quot;top&quot;:196.9775590551181,&quot;width&quot;:334.15472440944876}"/>
</p:tagLst>
</file>

<file path=ppt/tags/tag22.xml><?xml version="1.0" encoding="utf-8"?>
<p:tagLst xmlns:p="http://schemas.openxmlformats.org/presentationml/2006/main">
  <p:tag name="KSO_WM_DIAGRAM_VIRTUALLY_FRAME" val="{&quot;height&quot;:139.86433070866144,&quot;left&quot;:76.50393700787401,&quot;top&quot;:196.9775590551181,&quot;width&quot;:334.15472440944876}"/>
</p:tagLst>
</file>

<file path=ppt/tags/tag23.xml><?xml version="1.0" encoding="utf-8"?>
<p:tagLst xmlns:p="http://schemas.openxmlformats.org/presentationml/2006/main">
  <p:tag name="KSO_WM_DIAGRAM_VIRTUALLY_FRAME" val="{&quot;height&quot;:139.86433070866144,&quot;left&quot;:76.50393700787401,&quot;top&quot;:196.9775590551181,&quot;width&quot;:334.15472440944876}"/>
</p:tagLst>
</file>

<file path=ppt/tags/tag24.xml><?xml version="1.0" encoding="utf-8"?>
<p:tagLst xmlns:p="http://schemas.openxmlformats.org/presentationml/2006/main">
  <p:tag name="KSO_WM_DIAGRAM_VIRTUALLY_FRAME" val="{&quot;height&quot;:139.86433070866144,&quot;left&quot;:76.50393700787401,&quot;top&quot;:196.9775590551181,&quot;width&quot;:334.15472440944876}"/>
</p:tagLst>
</file>

<file path=ppt/tags/tag25.xml><?xml version="1.0" encoding="utf-8"?>
<p:tagLst xmlns:p="http://schemas.openxmlformats.org/presentationml/2006/main">
  <p:tag name="KSO_WM_DIAGRAM_VIRTUALLY_FRAME" val="{&quot;height&quot;:139.86433070866144,&quot;left&quot;:76.50393700787401,&quot;top&quot;:196.9775590551181,&quot;width&quot;:334.15472440944876}"/>
</p:tagLst>
</file>

<file path=ppt/tags/tag26.xml><?xml version="1.0" encoding="utf-8"?>
<p:tagLst xmlns:p="http://schemas.openxmlformats.org/presentationml/2006/main">
  <p:tag name="KSO_WM_DIAGRAM_VIRTUALLY_FRAME" val="{&quot;height&quot;:139.86433070866144,&quot;left&quot;:76.50393700787401,&quot;top&quot;:196.9775590551181,&quot;width&quot;:334.15472440944876}"/>
</p:tagLst>
</file>

<file path=ppt/tags/tag27.xml><?xml version="1.0" encoding="utf-8"?>
<p:tagLst xmlns:p="http://schemas.openxmlformats.org/presentationml/2006/main">
  <p:tag name="KSO_WM_UNIT_PIC_EFFECT" val="1"/>
</p:tagLst>
</file>

<file path=ppt/tags/tag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8547_1*i*1"/>
  <p:tag name="KSO_WM_TEMPLATE_CATEGORY" val="custom"/>
  <p:tag name="KSO_WM_TEMPLATE_INDEX" val="20238547"/>
  <p:tag name="KSO_WM_UNIT_LAYERLEVEL" val="1"/>
  <p:tag name="KSO_WM_TAG_VERSION" val="3.0"/>
  <p:tag name="KSO_WM_UNIT_PIC_EFFECT" val="1"/>
</p:tagLst>
</file>

<file path=ppt/tags/tag29.xml><?xml version="1.0" encoding="utf-8"?>
<p:tagLst xmlns:p="http://schemas.openxmlformats.org/presentationml/2006/main">
  <p:tag name="KSO_WM_BEAUTIFY_FLAG" val="#wm#"/>
  <p:tag name="KSO_WM_UNIT_VALUE" val="1343*2407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8547_1*d*1"/>
  <p:tag name="KSO_WM_TEMPLATE_CATEGORY" val="custom"/>
  <p:tag name="KSO_WM_TEMPLATE_INDEX" val="20238547"/>
  <p:tag name="KSO_WM_UNIT_LAYERLEVEL" val="1"/>
  <p:tag name="KSO_WM_TAG_VERSION" val="3.0"/>
  <p:tag name="KSO_WM_UNIT_PIC_EFFECT" val="1"/>
</p:tagLst>
</file>

<file path=ppt/tags/tag30.xml><?xml version="1.0" encoding="utf-8"?>
<p:tagLst xmlns:p="http://schemas.openxmlformats.org/presentationml/2006/main">
  <p:tag name="KSO_WM_DIAGRAM_VIRTUALLY_FRAME" val="{&quot;height&quot;:323.1876377952755,&quot;left&quot;:547.1074803149606,&quot;top&quot;:60.749921259842516,&quot;width&quot;:164.4276377952756}"/>
</p:tagLst>
</file>

<file path=ppt/tags/tag31.xml><?xml version="1.0" encoding="utf-8"?>
<p:tagLst xmlns:p="http://schemas.openxmlformats.org/presentationml/2006/main">
  <p:tag name="KSO_WM_DIAGRAM_VIRTUALLY_FRAME" val="{&quot;height&quot;:323.1876377952755,&quot;left&quot;:547.1074803149606,&quot;top&quot;:60.749921259842516,&quot;width&quot;:164.4276377952756}"/>
</p:tagLst>
</file>

<file path=ppt/tags/tag32.xml><?xml version="1.0" encoding="utf-8"?>
<p:tagLst xmlns:p="http://schemas.openxmlformats.org/presentationml/2006/main">
  <p:tag name="KSO_WM_DIAGRAM_VIRTUALLY_FRAME" val="{&quot;height&quot;:323.1876377952755,&quot;left&quot;:547.1074803149606,&quot;top&quot;:60.749921259842516,&quot;width&quot;:164.4276377952756}"/>
</p:tagLst>
</file>

<file path=ppt/tags/tag33.xml><?xml version="1.0" encoding="utf-8"?>
<p:tagLst xmlns:p="http://schemas.openxmlformats.org/presentationml/2006/main">
  <p:tag name="KSO_WM_DIAGRAM_VIRTUALLY_FRAME" val="{&quot;height&quot;:323.1876377952755,&quot;left&quot;:547.1074803149606,&quot;top&quot;:60.749921259842516,&quot;width&quot;:164.4276377952756}"/>
</p:tagLst>
</file>

<file path=ppt/tags/tag34.xml><?xml version="1.0" encoding="utf-8"?>
<p:tagLst xmlns:p="http://schemas.openxmlformats.org/presentationml/2006/main">
  <p:tag name="KSO_WM_DIAGRAM_VIRTUALLY_FRAME" val="{&quot;height&quot;:323.1876377952755,&quot;left&quot;:547.1074803149606,&quot;top&quot;:60.749921259842516,&quot;width&quot;:164.4276377952756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zk4NTk4NjM4MDg4IiwKCSJHcm91cElkIiA6ICIyMzgwNjU3NDU2IiwKCSJJbWFnZSIgOiAiaVZCT1J3MEtHZ29BQUFBTlNVaEVVZ0FBQXc4QUFBR0dDQVlBQUFBOS9MM3ZBQUFBQVhOU1IwSUFyczRjNlFBQUlBQkpSRUZVZUp6czNYbFlWR1g3Qi9EdmMyWm5SMEVRRVJCQkZBVVIzUGQ5MTdSRlM4dXliRGRiMWRKTWUxTlR5L2MxVGN2S0NyTkZMVXN6YzhrbE5mY05VWkZGV1VVVzJRY1laam5QN3c5aWZvNHM0Z0puQnU3UGRYVmR6amxuenJtSDRKNXpuMmNEQ0NHRUVFSUlJWVFRUWd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TFCYVRPb0Q2NU9ZVzVLaDJFanpsTW1iUFpZSWRnMXdwZFV5a2FoeEd2ZEVrbGpDUmFVdFlXVlp1UWtLaDFER1J4c1hESTlSZTZTaDZ5Z1h1SUFxQ0hZTk1KWFZNNU81d21NcU1vbGdpaUV5ckt4QXpzN012YWFXT2lSQkNiRldETHg1OEF6dTBneUI3Q0F6ZEdZTWZPRFNNTVRubmtJTnhRZXI0U0RVNEV4bURrUU1HQURvdWlza0Fqb2dDdHFiR25MOGdkWGlrWWZMMURXckYxT29KRU5DTmNRUnl4alFNVUhET1pXQ1FTUjBmdVVzY0pqQm1BbUJnbkpkeXpxK0E0YmpKS0c1S1RiaHdSZXJ3Q0NIRWxqVEU0a0h3YUIzcXBsSHdrWUR3QW1PczI4MDdWVW9sQkprTU1rRUFFeHJpeDI4WU9PY3dtVVNZVENZWURIcHcvdi83Uk01UGN4R2Y2QXltM1ZtSkY3SUJpSklGU213ZDgvRUpjWUVHZ3dVbXZNZ1lHM0R6VHFWU0NabE1nRXlRVWI2d1lWemtNSW5sK1VTdjE5KzY3eEE0WDJNUTlIdXVYYjZjQzRCWGZSWkNDQ0ZBQXlzZS9OcUcrWWtpZjFRUThBaGpMQndBWkRJWjJyVnRnd0IvZjdUeTg0V1hwd2ZzN2UxaFo2ZUJVa205bHF5VjNtQkFTVWtKdE5waVpHWmw0V3BpTXVJVHJpQTJQaDRHZ3hHY2N4RU1VWnp6bncxNjQ0YjBxNWRTcEk2WjJCWS92MkJQVVNXZktEQmhJbVBvVWJHOWJWQWJCTGIyaDM4clh6VDM5SVNqZ3dQczdPMmdvbnhoczhyMGVuTSt1WjZSZ2F1SnlVaTRjaFV4c1hIZ25JTnptTUQ0U2M3RnpTS1gvNVFhZXpaZDZwZ0pJY1JhTlpqaXdkdS9YYUJDcWZ3R1FCY3dwblIxY2NINHNhTXdjdmdRTlBmMGdLT0RJeHdjN0tVT2s5d2xiWEV4aWdxTGtKR1ZqZDEvN2NPbVgzNURYbjQrQUc3Z1lFY05Kc09NYTNFWG82U09rOWdHcjlhdFd5b1VqbDh6b0JkajBEZzZPR0RVaUtFWS84Qm9lSGw2d3NuUkVZNk9EbEtIU2VwSWtWYUxvcUlpWE0vSXhMYnRPN0h0ano5UlVGZ0l6cmtPd0JHREhpOWV1eG9WSjNXY2hCQmlqV3kvZUFnT1ZyWVM1Y000MkFiR21KTkdvMEduanFHWVAzY21Bdno5d1pqdGYwUmlpWE9PaEN0WDhlRkhLM0Q4MUdtVWxwYUNjMTRrY3Y1MGlzeTREWmN1Nlc5L0Z0Skl5WDNhaFBZVEJMYUZNZWFrVnFrUUdCaUFEOTU3QnlIdGd5bGZORUtjYzhURXhtSCtCMHR3TVNZR09sMFpPT2VGWEJRZlM0NVQ3Z0ZPRzZTT2tSQkNySWx0RHdBTURsYjZtWlN2TWNaV0NJdzV0UTl1aTVtdno4Q3MxMStCdTVzYjNRZzBVSXd4TkczU0JDT0hEMFVyUHg4a3A2WWlKeWRYQmNaR08zTldhcStVblNzcUtxSXZmSElybVYvYmpzOHdnYTFpakRYMWIrV0gxMTU1RVF2bXZnMnY1cDZVTHhvcHhoamMzZHd3ZnV3b2VIcDZJQ1VsRGJsNWVTckdoR0hPYnFLMm9GblRjOGpPTmtrZEp5R0VXQXViTGg3OG1uaTl4UmliQ3dhbjRMWkJXTEZzTWJwMWlZQmNMcGM2TkZJUFpESUJBYTM5MGFWek9LSXZYa0ptWnBhQ2dYVVhWQnBUd1kzTVExTEhSNnlMWDFEb0RBaHNJUU56YitYbmkxWExsNkp2cng1UUtDaGZrUEx4Y1VGdEF0R2xjemhPbnptSG5OeGNPekRXMDVsRFYzQWo2NmpVOFJGQ2lMV3cxZUpCNXRPMjQzT0N3RmJJNUlJcW9sTkhSSDcxR1pwN2VrSVFhUGJWeHFTaUZXTEUwQ0U0Yy9ZY01yT3lWT0FZNU55a1dYWkJUdVlaME13cEJCQjgyb1pPRVFUaGM1a2cwM1FJYm9lTjM2MkR0M2NMeWhmRWdpQUljSGRyaXRFamgrUG84Wk80Y1NOSERiQmh6azJicFJYa1pKNEg1Uk5DQ0xISjRvSDV0UWtaeXhqN3Iwd21zeDh4ZERDV0xWeUFKcTZ1VXNkRkpLUldxVEI0WUQra3BxWGphbUlTT0hoUDE2WWVsL0p6TXVOQlgvaU5tbmZia0w1eUNKOHlRWERxM2JNN2xpNWNBQStQWmxLSFJheVlXcTFDbjE3ZGtaS1NocVNVVkhEd2JvNHU3bEdGdVZsWHBZNk5FRUtrWm5QRmcxZWJObTR5UWZVMUFIOWZuNWJzNHc4L2dLZW5CL1ZYSmxDclZBanAwQTVIS3A0WUNxeWRuVlBUSFVWNTJRVlN4MGFrNGVYbFphZFFPVVFDQ0haM2QyT2ZmTFFFcmZ4OEtWK1EyM0owY0VCSSsyQWNPSGdZK2ZrRjlvSk1DTEpyNHZ4clVVNU9pZFN4RVVLSWxHeXR6VjZtRURUdk1ZYU9qZzRPYk0yS2o5SFN1d1hkQ0JBQTVWMllXbnA3NDMvTEZzTFIwWkV4c0RDbFF2NDJiTEJJSnZlRlRPSHN0b0F4MXRQQndaNnQrMndsQWxxM29ueEJhb1V4aGxaK3ZsaTlZaGtjSEJ3WUErdXFGRFJ6UVBtRUVOTEkyVlFTOUdzYk9vVkJXS2hXSzRYNWMyYWpmOTllVW9kRXJKQmIwNmJ3OUdpR3Z3LytBNU1vZG5KcTRwNWVrSk4xUnVxNFNQM3lheE02a1RIaEk2VlNJY3grNDFVTUhUVGc5bThpNUJidWJtNXdjWGJDNFNQSElJcGlGNmNtelJJTGNqSnBUUmxDU0tObE15MFBQb0VoL2d6c0xjWWc2OWVuRjRZT3Boc0JVcjBoQXdlZ1g1OWVBQ0FYQk9FZDM2RFFWbExIUk9xUHIyKzc1cEN4MXhpRExDeTBBMFlPSHlwMVNNU0dqUmcyR04yNmRnWUF1VXhnTTcxYWQyZ3BkVXlFRUNJVld5a2VtTUNFQndBRU9OamI0OUdISDRTTHM3UFVNUkVyNXVCZ2p3a1BqWWVyaXdzWVk5NE13Z05vQ0lzaWtscGhLbVZmZ0lVb0ZRbzhOdUVodUxzMWxUb2tZc05jWFZ3dzhhSHhzTGUzQTRBQWhWd1lDc29uaEpCR3lpYUtCMi92OXE2UTRWRXdwdTRVRm9vZTNicElIUkt4QVQyNmQwR1h6dUVBb0FERGhKWkJRYzJsam9uVVBXOXZidzJYc1drTXNBdnBFSXhoZ3dkSkhSSnBBUHIzNjQxT0hVTUJ4dFNNc2NkOWZFSmNwSTZKRUVLa1lCUEZnOEtlRFdaZzRRRHc1b3lYb1ZLcHBBNkoyQUNOV28zcEwwd0RBRENHemt4UURaWTRKRklQWkhhdUF3U2dId0M4TS9OMWFEUnFxVU1pRFlDZFJvTTNYbjBaQU1BWWVqSTdObERpa0FnaFJCTFdYendFQktnNGszMEFRRDV5MkJDRWhyU1hPaUppUXpvRXQ4UG9FY01BUUNIamJCNENBcWp5Yk1nQ0FsUk14ajRHb0JnOG9CL0N3enBLSFJGcFFNSkNPbURZNElFQW1KS0JMYUo4UWdocGpLeStlUENUMnovRkdHdlR4TlVWMDU1NlF1cHdpQTE2OGJtbjRlcmlBakFXNEt0d21DWjFQS1R1K01udEhtVVEyams2T3VESnh4K1RPaHpTQUUyYk9nWE9UazVnakFYNXl1d2Vsem9lUWdpcGI5WmVQTWdCUGdrQSt2ZnBoY0FBZjZuaklUYkl6OWNIZlhyM0FBQXc4R2RnWTFNVWsxcVRjN0NIQVNBc05BUWRndHRKSFE5cGdOb0V0cTRZU3dYRzhBUW9ueEJDR2htckxoNThBenFHTUNiNHFWUks5T3pSRGZiMjlsS0hSR3lRUnExR3IrN2RZS2ZSZ0hIbTNhSk4rdzVTeDBUdVA1K0E0Q0FHQk1wa012VHMzZzNPems1U2gwUWFJRWNIQi9UcTNoVktwUkpnZ2gvbEUwSklZMlBWeFFNRTNvTnp1RHZZTzZCVHh4Q3BveUUyTEN3MEJLNnVyZ0M0azRMSmUwZ2RENmtEZ2lLY01iUlFLcFhvMjZ1NzFOR1FCcXhMNTNBNGxEL01jcWQ4UWdocGJLeTJlUER6ODFNelFlZ0tjTFdmcnc5OFducExIUkt4WWEzOGZPRHI0dzBPS01IUTFjTWpsSnF4R2hZNVk3dzc1N0QzYWVtTndJRFdVc2RER3JEQWdOYnc5dllDT05lQW9Xc0FEWndtaERRaVZsczhsTXFjbk1EUWxUSEdSZzBmQXBtTXVwV1N1eWVYeXpGczhFQXd4aGlBcmhxTjNsM3FtTWo5NCtFUnFtSk02TTBZWStOR2o0UmNMcGM2Sk5LQUtlUnlqQm8rMUp4UHRBRDFrU09FTkJwV1d6ekk1ZWpBZ0VDbFVvbVJ3NGRJSFE1cEFJWU9IZ2lWU2dYR1dCQlhxR25PM3daRTZXd0taZ3pCU29VQ0Q0d1pJWFU0cEJFWVBXSVlsRW9sR0dOQkNxYWgwZm1Fa0ViRGVvc0h4a1lEa0hmdEhBNTNOemVwd3lFTlFETjNOM1RyRWdFQWNzajRNS25qSWZjUEV4VGpBY2c3aFhXRVI3Tm1Vb2RER2dGUGoyYm8zS2tqQU1obGdqQks2bmdJSWFTK1dHM3hBSVl1QU5DcmV6ZVV0d3dUY204WVkramI2OSt4alF5ZHBJMkczRThDZUhjQTZOWWxndklGcVJlTU1mVG8zdlhmRitYZlY0UVEwaGhZYS9FZ0Z6Z0xCWUIyYllPa2pvVTBJS0VoNWJNcU1zNUNZTDIvLytUT3lCaFlPRkErQno4aDlhVjl4Vm9pNVE4aktKOFFRaG9GcTB4MkxkcTI5UWVEazZPREF6dzlxQXNDdVgrYU4vZUF2WjBkR0lPenQzODd1dE5zQUZvR2RQQURnN085dlIzbEMxS3ZtbnYrbTAvQVhEd0NRL3lram9jUVF1cURWUllQTXE0TUJRQlBUdy9ZMldta0RzZG1yRjI3RmovODhJUDU5ZFdyVjJ2MVBwMU9WKzArZzhHQS9QeDhtRXltZTQ3dlpqazVPZGkvZjMrdFk3eGYxRXFWK1FaVExwZUYxK3ZGU2QyUUNlMEJvSm1iR3h3ZEhLU09oalFpZGhxTk9aOW9HRUlsRG9jUVF1cUZkUllQVE9nRUFGN05QV0ducVp2aUlUOC9IOU9tVFVOVVZKVEY5cEtTa2p2KzcyYVJrWkdWemhrVEU0TWRPM2JVK3IvazVPUzcra3hidG16QnRtM2JBQUFiTjI3RW80OCtpZzBiTnRUNEhwMU9oeUZEaG1EMTZ0VlY3dCszYng4R0RScUV4TVRFR3MrVGtwS0NoSVNFU3Y5cHRkb3FqLy80NDQveDFsdHY0Y3laTTdYNFpQZVBVcVdFbDFkekFBQVg1SjNyOWVLa1RnZ1FRZ0NnV2JObWNIUjByTFBySkNZbTRzU0pFM1YyL3FwczM3NGQ1OCtmdjYvbnZISGpCbjc5OVZka1ptYmUwZnVPSHo5ZTdkOXpmY3ZQejhmOCtmTnI5Yk9KajQvSHUrKytlOXNjZGpmczdEVG1mQUpCb0hGVWhKQkd3U29uUXhmQk93cGdhTzdwQVUwZEZRL1oyZGxJU2tyQ2M4ODloM256NW1IMDZOSEl6OC9Ib0VHRDd2aGNlL2Z1aFl1TEM0cUtpdkRqano5aXpabzFlUFBOTnpGaHdnUUF3TzdkdTdGcDA2WmFuVXVuMDJIV3JGbnc5Zlc5NHppVVNxVzVoV0RNbURIWXYzOC8vdmUvL3lFNU9SbHZ2LzEybFd0bEhEMTZGQ1VsSlFnT0RyN2o2OTNzbFZkZVFWcGFXcVh0bjN6eUNYcjM3bTJ4TFRvNkdydDM3NFpLcGNMYXRXc3haTWdRT0RzNzM5UDFhMHVwVktLNXB3Y0FnSUZUeTBNRHdCaktXeDdjM2VEZ1VIZHIvMjNhdEFrN2R1ekEzMy8vWFdmWHVOVm5uMzJHWWNPR0lUVDAvajNVVGtwS3dzS0ZDN0ZxMVNwNGVIalU2ajBYTDE3RVN5KzloQWtUSm1EMjdObTNQYjYwdEJRWEwxNnN0TjNkM1IzTm1qVkRTa3BLamUvWGFEVHc4ZkdwRkVOU1VoS0dEUnVHa3BJU2JOKytIZDI2ZGJ2dHp5WTdPeHQvL3ZrbnhvMGJoMWF0V3QwMjlqdWgwV2pNK1FTTWQ3eXZKeWVFRUN0bGpjVURZNHkxQUFEUFpzMmdWdGZOd3AyQmdZSDQrdXV2OGVLTEwyTCsvUG00ZnYwNkhubmtFUUJBdTNidDBLTkhqOXVlNCtqUm80aUppVEcvZG5SMHhJWU5HL0RtbTI5aTZkS2x1SERoQXViT25ZdFhYMzBWcjc3NjZtM1BWMVJVaFA3OSs5LzFaN3E1ZUxDenM4UEtsU3N4ZS9ac0pDY253MmcwVmxrODdOdTNENDZPanVqVnE5ZGRYeGNBbGkxYkJyMWViMzRkSHgrUFJZc1d3Y1hGeGVLNDB0SlNMRml3QUo2ZW52anZmLytMcDU5K0dvc1hMOGJTcFV2djZmcTFwVlFvYnU0WFQzMlViUjhEMEJ3QTNOMmF3dDdPcmw0di91eXp6OWJxT0psTWhxVkxsMVo1UXcwQVFVRkJhTnEwNlIxZE95OHZEM3YzN3ExeVgvZnUzZUh0N1gxSDU2dEorL2J0TVdqUUlQejIyMjk0K3VtbjRlNWU4eHFMMTY1ZHcvUFBQMTlwKzRNUFBvaVJJMGRpMnJScE5iNi9RNGNPaUl5TXROaTJiZHMyYk51MkRVT0czSDdkbjlMU1VzamxjaWdVaXRzZWV5L1VhdlgvNXhQT2ZHbyttaEJDR2dhckt4NDhQRUx0R09keW1Wd09SMGVIT3AxMjBjZkhCK3ZXcmNNTEw3eUFuSndjOC9hUWtCQzgvUExMdDMyL1ZxdTFLQjRBd00zTkRXdlhyc1hzMmJNUkh4OFBVUlFCbExjK0ZCWVcxbmkrc3JJeWk5ZlIwZEhZdjM5L2JUK09lV3pDeXBVcnpkdDhmSHlnMSt1eGR1MWErUGo0WU55NGNlWjloWVdGMkx0M0x4NSsrR0ZrWldWVkdkKzFhOWNBbEkrZnVMazRxT0RnNEFBZkh4OEVCUVVoTWpJU3JxNnVHRHQyTEhKemN3R2dVdkh3NFljZklpa3BDWjkrK2ltQ2dvTHcxbHR2WWVIQ2hWaTdkbTJWTnh2M0cyTU1qZzRPa012bE1CcU5jbTl2YjAxYVdscHBuVitZMUFsdmIyODFBeFNNTVRnNU9kWDdOSzFGUlVWVmJrOU1USVJLcFlLWGx4ZUE4aFhPNCtQajhjb3JyMVI1L05LbFMxRmFXZ3FqMFdpeHZiUzBGUEh4OGZqMTExOHR0b2VHaHFLc3JBd2ZmdmhobGVkYnZIanhIUmNQaXhZdHdvNGRPNnJkYnpLWklJcWlSUTY1MWJCaHcvRGVlKytaWDMvMDBVY0lEUTFGZm40K0prNmNpSll0VzVyM2ZmYlpaMVcyc1A3M3YvOUZSa1pHcGUySER4OUdTRWdJbEVybGJUL0w4T0hEOGRCREQySEdqQm0zUGZaZUNQL21FNWtnd0dReVVUNGhoRFFLVmxjOHlKeDFHczdzWklMQW9GVFZUYXZEelR3OVBSRVpHUWtuSnljVUZCVGNsM09xMVdvc1g3NGNoWVdGNW01WHYvLysrMjJiNmlzS2pRcXhzYkdWbnI3VlJuWHY2ZEtsaThVWC8vYnQyMUZXVm9ZSkV5Wmc5ZXJWMkwxN2Q3WG5mT2VkZDZyYzNxTkhEM3o2NmFjQXlzZGM5T3paRTJQSGprVitmajRBeStKaDllclYrT09QUC9EODg4K2JXM2JHangrUHVMZzRmUEhGRjFDcjFYanl5U2Z2N01QZUJhVktCWmtnd01pNUlBaXVhb0MrN0cyVklMaXFPZU1LZ1FsMTBrcDU5dXhaWkdWbEFTZ2YxMk0wR3JGcjF5NEE1Yi9iUC8zMFU1WHZHejU4T0lLQ2d2REpKNStZdCtsME92ejIyMjhBZ0JkZmZCR2RPblhDYzg4OUI2RDhvY1Bnd1lOaE5Cb2hsOHN0M25QaXhBbUxzVUU2blE3ejU4OUhRRUFBQUdERmloWG8wNmNQQUNBaElRRVRKMDY4cTgrcTErdGhNcGt3ZGVyVXUzcC9aR1JrcFFjTVRrNU9jSE56dzVFalJ3QUFnd2NQTm8rMWFOS2tTWlhkcHRScWRhVnRwMCtmUmtaR0JtN2N1SUYrL2ZxWmMrV2lSWXNzV2kyZmVlWVpUSmt5NWE3aXYxdEtsUXBNRU1CRlVVYjVoQkRTR0ZoZDhRQ1RVc05rWE02WUFGVXRuakRkclcrLy9SWUJBUUhvM2J1M3ViKzl2YjA5Rmk5ZVhLbXZiWFhHamgyTHNMQXcyTnVYOTdPT2pJeUV2NzgvK3ZUcEE3bGNqaVpObXBpUFhiVnExVzNQZDJ1M3BZY2VlcWpHcDN5M2V2dnR0M0g4K1BGcVd5c0U0Zi9IeHhzTUJuei8vZmRRcTlYdzl2YkcxS2xUTVdiTUdQTitrOG1FV2JObW9VbVRKc2pJeUlDVGt4T0Nnb0lxZlRHN3VycWEvNTJibTJ2K3pQbjUrWkRMNVhCd2NBRG5IR3ZXck1IWFgzK05rU05IVnVycThkWmJieUV2THc4clY2NUVlbm82WG4vOTlTcHZJTzRYbFZJSlFTWURCeE80UnE4QmtGZG5GeU4xaXRrYjFZQlN6aGlEdWc0ZU5uejc3YmM0ZlBpd3hiWTVjK1lBS085YTA2MWJ0MXFmUzYxV28yWExsc2pLeXNMMTY5Zng3cnZ2V2p5SkI0Q1hYMzdaNG05czFLaFJHRFpzbVBrSmVrNU9Eb1lPSFdyeGQxZVZzckl5UkVSRTFIaE1SU3VJSUFnNGVmSWtBRUNsVWxtMEFCcU5SdXpmdjc5U1Y2RjkrL2FoYjkrK0ZvWE94bzBicTczV2dRTUhFQndjREM4dkwzUHhjUHo0Y1NRbEpWVTY5dnIxNjVXMmZmbmxsM0J3Y01CcnI3MEdBQ2dvS01DcVZhc3diTmd3aElTRW1JKzcxN0ZiZDBPbFZKYm5WczdsbEU4SUlZMkIxUlVQVENIVGNBNlpJQWgxY2pNQWxIYzMycng1TXpJeU1qQmx5aFJNbno0ZE1wa01Db1VDdzRZTkF3QTg5ZFJUaUkrUHIvWWN1M2J0UXJ0MjdkQ3VYZmtpUVhxOUh0dTNiMGRpWWlLbVQ1K09wNTU2eW56c3ZIbnpzRy9mdmp1T2t6Rm04ZVY4T3c0T0RpZ3BLWUVnQ0JhRlFsVisvZlZYWkdSa21HL1MyN1JwZ3padDJwajM3OSsvSDNxOUhvTUhEOGFHRFJ2UXZYdDNIRHQyREYyNmRLbXlIN0ZPcDBOSlNZbEY4ZURpNGdLdFZvdDU4K2JoNE1HREdEcDBLQllzV0ZDcGE0bE1Kc09pUll1Z1ZDcng4ODgvNDlpeFkvanNzOC9NWFQ3dU45Vy9MUStNY1JrM3lPdTNrenk1djBTRm1ySHlia3QxVVhBdVhMalEzSjF3OWVyVjJMdDNMN1pzMlFJQWQ5MmYvdENoUTNCeWNrTG56bmMrMlZkMmRqYUF5dDBCYnlXWHk2dHRMVXhPVHNZUFAveUFpUk1ud3QvZjM1d3JXcmR1YmRFTkt6TXpFKys4OHc2aW9xSmdOQm94WXNRSUFPV3RBRE5uem9TL3Z6L216cDJMc0xBd0FFQjRlRGhhdDY2OGRJcE9wOFB4NDhjcmRVdGN2WHAxbGQzTURBYURPYThDNVFPOFQ1NDhpVmRmZlJYang0OEhBS1NucDJQVnFsWG8zTGt6Um80Y1dlUFBvcTZwVkNvSWpBR01VVDRoaERRS1ZsYzhRRFJxSUZQODIyMnBibG9lSEJ3Y3pBT2IxNjlmajh1WEwyUEpraVVXTS83b2REb3d4akIwNkZDTDk1NC9meDZKaVluZ25GdHNWeXFWV0xkdUhWNS8vWFdzV3JVS0NRa0ptRGR2SGxRcUZSNTg4TUZhRGNEVzZYUll0R2pSWFgrdWlta3FpNHVMYTV5eVVxdlZZdDI2ZFRXZWErdldyV2pldkxuNVNWNy8vdjJ4ZS9kdUhEcDBDQU1IRHF4MC9JMGJOd0NnVXZGdzQ4WU5uRGx6QnBNblQwWmVYaDRlZlBEQmFxOFpIaDZPNmRPbjQvVHAwL0QwOUt6NXc5NERsVW9KUVNZQW5Ba01zcnByNGlCMVR4VFZYQzZYTTRZNjZiYms2T2hvL2x0U3E5VmdqTUhOemUyZXpybGp4dzcwNnRVTGVyMGVlcjBlZ2lEVXV2QUpDQWpBN3QyNzRlenNqTGk0dUdxUGs4bGtlUGpoaDZ2Y2QrclVLZnp3d3cvbzNiczNldmJzYWQ0K1pjb1VjNnZIa1NOSE1HL2VQR2kxV3N5Y09kTmNPQUJBUkVRRXZ2amlDN3ovL3Z0NDVwbG5NR0hDQkx6eXlpdjQrT09QcTd6ZTBhTkhvZFBwS3Mxa3QzNzllblBYcTV2Tm56L2Zva1hDMDlNVG4zNzZLUUlEQTgzRlRYRnhNWUR5bkhucnVKTzZtcUd2T2lxVkVrd1FBQTRaNVJOQ1NHTmdkY1dEUXBScElIQzV3QVNvNm5ETWc2dXJLejcvL0hQTW56OGZWNjllclhJbUltZG5aNHZCZjBENXdNYnE1Z3QzY25MQ21qVnJNSGZ1WEtTa3BJQnpqdGpZV05qWjJWWDVSTzVXb2lqaTQ0OC9ob3VMQzJKall4RVVGSVNqUjQvV2FpN3pVYU5HbVdkcnljbkpxYkY0V0xseUpRb0tDdEM5ZTNlY08zZXUwdjdVMUZRY09YSUVreWRQTm05cjNibzFBZ0lDc0duVHBpcUxoNG9CNXhWUFJQUHk4dURpNGdJL1B6OXMzTGdSbnA2ZTJMSmxpMFZYcmx2NStmbGgvUGp4ZVBMSkoyL2Jjbkl2eWxzZVpPQU1BbVFDclVKb3k3aXNmTUEwV0ozbWk2cVlUS1lxODBaTmtwS1NjTzdjT1p3N2R3NS8vdmtuZ1BLaStjc3Z2d1FBckZ1M3ptS2h4NXljSEd6ZXZObGlJUFBUVHo5dG5nWWFLTy9tazVDUUFLRDhiN2RDV1ZrWk5tN2NpTkRRVUhQcndPM2s1dVppNWNxVitQMzMzOUdpUlF0ODhza242TkNoUTZYaklpSWk4Tk5QUCtHamp6N0NwazJiY1Bqd1lmem5QLzlCcDA2Vmx6bzRmUGd3WEYxZGF6MHQ3SzJXTDE5dWJ1MjUxYUpGaXlvOWNLbXZtZHNxcUZRcUNBSURBNWRUUGlHRU5BWldWenlZQkNoa1lBSmpESW83NkxKek41UktKUll2WG95aW9pSTQzS2VWYVZVcUZaWXRXd2F0Vmd1MVdvMUpreWJkOWJtT0h6K09ZOGVPM1hhaE53QUlDd3REczJibFV3Wm1aMmZEejYvcVdVaXpzckx3eXkrLzRNVVhYMFJPVGs2VnhjTm5uMzBHeGhnbVRweG9zZURkK1BIajhkRkhIK0hZc1dQbzNyMjd4WHNxaW9lWFgzNFpqREh6d01sKy9mcVo1OFd2YUhYUWFyWFl2bjA3T25mdWJQSGtNVG82R2dhRG9jNm5WMVFvNVA4V0oxeGdRUDNlY1pMN3lpUkF3VGlYZ1RFbzYvajNwc0xaczJleGE5Y3UvUFhYWDlpOGVmTnR4eC9jN0x2dnZnTlEzaTF5M0xoeCtPYWJieXh1K0NNaUlxRFZhcEdjbkZ4cDhvQ2NuQng4KysyM2xWbzlxN3RaRmtVUmtaR1JhTkdpQmRhdlgxOWpYQ2FUQ1QvLy9EUFdyRmtEclZhTE1XUEc0SzIzM3FveEw5cloyV0grL1BubzA2Y1Azbi8vZlR6NzdMT1lPblZxcGU1SkV5Wk13UGJ0Mi9ITk45OVlqSGM2Y3VRSXJseTVVdW04RlRPOFZYanNzY2N3WU1BQWkyMDVPVGxZc0dBQnBreVpnaTVkdWxqc0N3b0txdkd6M204S2hSeU1DZUJnQWdPbmZFSUlhZkNzcm5pUWNlZ1p1SWx6RG9QQlVPZlg0NXpEeWNtcHl1MTNNdDdnWm9JZ1dKeHo4dVRKTlhiWHVkWFdyVnZOWC9iVHAwKzMrREtPakl6RVYxOTloZFdyVjFzc2pxUlNxUkFkSFEyZy9PbmpyVitvRlpvMWE0Wmh3NGJocWFlZXd2TGx5eXZ0ajR1THc2NWR1L0RBQXcvQTA5UFRvbmdZTTJZTTFxNWRpMVdyVnFGcjE2NFdyUU8rdnI1NDg4MDNMYzUxNU1nUjgvdjM3OStQaXhjdll2cjA2VENaVFBqNDQ0L3g3TFBQbW91SC9QeDhQUDMwMHhnN2Rpem16WnRYNjUvVjNUQWFqQkM1Q0lDSkluamwrV2VKelpCemc1NHhwUkdjVnptVjhQM0FPY2Y1OCtkeCtmSmxhTFZhVEpzMkRRNE9EaGc0Y09BZHRUeWtwYVhoanovK0FGRGVxdG15WlV1TEZrS1R5WVR1M2J0RHBWTGh3dzgveE1NUFAyd3hMZW5QUC84TUFKVUdhYytjT2RQOHhEOHRMUTJ6WnMwQ1VONTk1OGtubjhRbm4zeUNQWHYyMUxnK1FtcHFLajcvL0hNNE9qcGkvUGp4Nk5DaEE0NGRPMWJyei9iR0cyOWc4K2JOMkxwMWE2WFpub0tDZ2pCcDBpUjg4ODAzRmwycFB2Lzhjd0RsTFNRM2Q5dTZkY3lEdjc4Ly9QMzlMYzZabnA0T29IeTlucHU3WGtuQmFEQ0NjdzRHTG9vQTVSTkNTSU5uZGNXRFVSQkxGVXh1RWtVUk9sM1o3ZDl3ajM3Ly9YZHMzYm9WYytiTXNYZ0tydFBwN3JvYnhMbHo1M0RxMUNrODl0aGpBTXE3U0tXbXBpSXY3L2FUY1BqNysxczh5VlFvRkJaUDRpdityVktwWUhmTGdsZ1ZjNlpYMTYycXdzS0ZDNnZzRm1Rd0dMQmd3UUxJNWZJcXAydTB0N2ZIbENsVDhPbW5uK0x6enovSFN5KzlaTjdYdW5YclNsMno4dkx5Y1BueVpRRGxUMnQvL1BGSFBQNzQ0M0J4Y1VIYnRtMHRCbEVlT25RSW9paFcyU1hxZnRPVmxjRmtNb0Z4aURDS05LMmlMV015SFFlTW5IT1Uxa0crV0w1OE9YYnYzbTBlMDZOUUtMQjQ4V0wwN3QyN1Z1c04zR3pObWpWbzBhSkZwYlVjZ1BJYmFJUEJBQWNIQjNUczJCRUdnd0ZIang1RnYzNzl6TWY4K3V1dkNBZ0lxTlNxMktKRkMvUFQ5bHVMbVFrVEppQXlNaEtmZmZaWmpjV09uNThmMXExYkJ5OHZMenovL1BQbUZwTGE2dENoQTc3KyttdWtwNmZEemMzTlBGWHp6WEdzWDc4ZWYvMzFsem5QcmwrL0hpMWJ0c1RJa1NQeDNIUFBtWXVPdUxnNFJFZEhZOVdxVlhqNTVaY2hDQUt5czdQeHhSZGZtTTlYVWxJQ29Iemh1TE5uejVxMzkrelpzMUlyUlYzVGxaVkJGRVZ3TUJPTUpzb25oSkFHeitxS0J4aE1wVndwS3k4ZXluUjFmcmwvL3ZrSFVWRlJsVm9aYnR5NFlURUY0SjNZczJjUGZ2cnBKNHdZTVFJYk4yNkVtNXNiWnMrZWpWT25Ua0VRaENwdk9qam5LQ3NydzZRd0hHTS9BQUFnQUVsRVFWUkprL0RNTTgrZ1o4K2VkOXp5NGVycUNqYzN0MnBYc2ExUTNYaUNOV3ZXSURZMkZpKzk5RktsS1NRclRKNDhHVnUzYnNXNmRlc1FFaEppbmwrK2d0Rm9SRXhNREJJVEV5MEtzRDU5K3VENzc3L0hnUU1ITUc3Y09IVHQyaFViTm14QVNVa0o3T3pzOFBmZmY4UFoyZm1PcHI2OFd6cWRybndsYnNaRkp2Q1NPcjhncVRNNndhRFRjSm1CYzQ3UzB2dC8zeFlmSDQrV0xWdml4UmRmeEprelovRDMzMy9mZFlIN3dBTVBRSy9YNDMvLysxK2xmUlVEZ08zdDdkR2lSUXQwNk5BQm16ZHZOaGNQQnc4ZXhPWExsekYvL3Z3N3VxWmFyY1lqanp5Q3lNaElYTDU4R2UzYnQ2LzIySXFuK3l0V3JLaXlGZWZsbDErR1hDNjNXTHVpZ2xLcGhGS3ByTGE3WlBQbXplSG82SWlVbEJTTGh6UVZFMHBVVE9Oc2IyK1AwNmRQWStYS2xmRHk4c0tERHo2SUZpMWFvS0NnQUZ1MmJFRklTQWljblozTk0yQVZGQlNZYzh6Smt5Zmg2T2hZLzhXRFRsZSs3Z1NEa2ZJSklhUXhzTDdpUWE0c1lZQlI1Q0owWlhYYjhtQTBHbkg4K0hGNGUzdGJmT2xkdTNZTk9wMnUyaHZvbTkyNGNRTktwZEtpbTlLaFE0ZlF1blZydEdqUndyeHQ3ZHExV0xwMEtmNzQ0dzk4OTkxM2xWWlduVGR2SG5idTNJbmh3NGZEeGNYbHRsTXhWaWNrSkFULy9QTVBkRHJkSFUxZHVXUEhEcXhmdng3dDJyWEQ1TW1UelRPWTZIVGxCVnhKU1lsNTIvdnZ2NC9ubm5zT3MyYk53Z2NmZklCMjdkcmhsMTkrUVhSME5DNWR1Z1NkVGdjdkx5LzA2TkhESEVPblRwMWdaMmVIL2Z2M1k5eTRjZWpZc1NNaUl5TVJGUldGOFBCd0hEdDJEQ05HakxqcnJtSjNRcWNyZzhra2duTm1nc3hBVHdwdG1Fa242TGlhR3prNFNuWDMvMkhEeXBVcnpjVitiR3pzUFoycm9qQ3VxbmhJVGs0R0FQUDB4Sk1tVGNLY09YTnc4dVJKdEczYkZrdVhMa1ZnWUNCR2pScDF4OWVkTkdrU0huNzQ0VnJQRWxYZEdBNjVYQTY1WEg1WEE1K05SaU1NQmtPVlJjbWtTWlB3MjIrLzRaMTMza0ZoWVNIaTQrTXhkZXBVVEowNnRkTDRwK25UcDZOejU4NUlUMC9IbURGajhNUVRUNWluYXIyYm44MzlvTk9WdHp3d3ppbWZFRUlhaGJxYjB1WXU4ZUl5SFdmTUpJb2NaWFhjYlNrNk9ocGFyYmJTMC9NREJ3NEF3RzBYV1FMS1d5NkdEaDFxN3A1ejllcFZYTHQyRFgzNzlxMTA3SXdaTStEaTRtSmVGQTBvYjNGWXVYSWxkdXpZZ1Jrelp0VDRaTEEydW5idENyMWViMTdSdGNJNzc3eURKVXVXVlBtZUF3Y09ZTUdDQldqU3BBaysvUEJEN051M0QvMzc5MGYvL3YzeG4vLzhCd0F3ZGVwVTh6YTFXbzI1YytkQ3I5ZGo5dXpaT0gvK1BDSWpJNUdibTR1eFk4ZGkyYkpsMkxCaEEwcExTODNUSnNybGNuVHIxZzBuVDU2RVRxZER4NDRkQVpSMzhUcDQ4Q0JLUzB2TmEyelV0WXFXQndZdUZ0YkY0MnBTYit4Um9nT0RnZlAvTDNUdnB6dnRtblMzWW1KaUlKZkwwYXBWS3dEQWtDRkQwSzVkTzd6MzNudVlPWE1tY25KeU1ILysvRHVlM1FuNC8xV2VwZkQzMzM5ajdkcTFlT09OTjZEVDZhcWN1Y25WMVJVZmZQQUJqaDQ5aXRUVVZQejAwMDk0N3JubjdtbmloTjY5ZTlkcWhydjdvYUxsZ1RObXBIeENDR2tNcks3bGdURnRDZU1xWTMyTWVhaVlCZWptNGlFL1B4L2ZmUE1OWEZ4Y0xGWjdyazVlWGg0TUJvTjVsZW1LeGVCdTdxdGNRYVBSWU9YS2xYanBwWmN3ZWZKa3ZQdnV1OWl3WVFPT0h6K09aNTk5Rms4ODhVU3RZNCtLaWtKTVRBeFNVMU9Sbkp5TTVPUmtMRjI2RkFNR0RNQkhIMzJFelpzM1czU3ZpSW1KcVhibWxJcXVRMnZXckVITGxpM0JPVGN2TUhYcDBpVnMzYm9WMDZaTmc3dTdPd0RBdzhNRFFVRkJFRVVSTVRFeEdESmtDTHAyN1dxZUtyWkNjWEd4eFp6cmZmcjB3ZG16WjVHYW1vckF3RUI4K2VXWENBa0p3YXhacytEbTVvYnc4UEJhZi81N1VUSG1BWXlKQlVvbGRUT3dZVW1BcmhYL2Q4eERhZDEzYzd4ZlB2MzBVNnhac3dZbWt3bGhZV0U0Y3VRSTJyUnBZMjU1RXdRQjc3enpEcVpNbVlLc3JDek1tREhEWWhEeHpXYk5tbVh1aW5qclRFeFNFd1FCWDMzMUZaeWNuREI1OG1TTUdqWEtZaElHemprT0hUcUVrcElTdlAzMjIxaTZkQ25tejUrUEpVdVczUEZhTDZJb21oZWR1NWYxY3U1VXhaZ0h4cm1KOGdraHBER3d1dUloTFMxTjU5Zk83ZDh4RDNWWFBIRE9zV2ZQSG1nMEd2Tk5xMWFyeFd1dnZZYTh2RHg4OE1FSE5YYjdNWmxNQU1wWFlXV01tWnZ5ZCs3Y2lTWk5tbFQ1aEEwb0g1aTRmUGx5VEowNkZhKzg4Z3FBOHI3RVR6LzlkS1ZqczdLeXNIMzdkbHk3ZGczWHJsMURlbm82TWpJeUFBQ3JWcTB5SHllWHkrSHQ3UTBuSnllNHU3dWpiOSsrT0hEZ0FBNGRPb1ErZmZxZ3RMUVVhV2xwR0QxNmRKVXhqUnc1RWwyNmRERVhCejQrUHZEeDhRRlF2cEwyMXExYk1XVElrRW9MT28wYk53N2p4bzBEZ0VxRkExQStwLzNOMHlhT0dERUNvMGFOTXQ4Z2hZZUhvNkNnQUVlT0hNRWpqenhTcDJzN1ZPQ2NtN3NaY002TlNFaW8rMUg1cE80a0plbDQyekFEZU4xMFc3cFpWUU9kcXp1dXVMaTR4bGFDTVdQR21CZE4wK2wwbURWckZtYk1tR0hlZis3Y09iejMzbnVReWNwWHZxOFlMRHg1OHVSS1hmdUdEeDl1YnJISXljbTU3ZFRPV3EwV0FPcWxpMkNmUG4zdyt1dXZXMnlyR0svdzU1OS80dURCZzBoS1NzS2JiNzZKUng5OUZNMmFOY09jT1hQdzBFTVBZZXpZc1hqaWlTZHFYR20rcUtnSVc3ZHVSVUZCQWJLeXNxcGNSNmFpdTJWZHRDSlY1QlBPT1RoQStZUVEwaWhZWGZFQWdIUE8weGhqWWZrRkJkRHI5WFdTOUtPam81R1JrWUVCQXdaQW9WQWdKaVlHYytmT1JYSnlNaVpQbm16dVIzdXJpckVJSDN6d0FkemMzTEJ6NTA0RUJBUkFxVlFpTmpZV2lZbUpHRGR1blBrSldJVWJOMjdneElrVDJMZHZIdzRkT2dUR0dBWU9ISWdUSjA1ZzllclZPSEhpQkFZTUdJQnUzYnFaeDErSW9valZxMWVieitIaDRZR0lpQWo0K2ZtaFpjdVc4UFgxaGErdkw1bzNiMjV4by9MQ0N5L2c4T0hEZVBmZGQ3Rmt5UkprWkdTQWMxN2pBUENLd3VGZWJOKytIZG5aMlFDQWl4Y3ZJams1R1JNblRzUzJiZHNxemI1U0lTRWh3WHl6VlRFOXJadWJXN1UvLzN0bE5Kck1zWENPbXFlbElqWkNUQWNFRkJZV1FsZFdCdlY5WEN3dUtpb0todzhmaGt3bXcvNzkrNnNjaTNUbHloV3NXclVLZG5aMlVLbFVTRXhNUkVsSlNhVnhUUlU2ZGVxRW5qMTdtcWNZblRObkRnUkJ3TWlSSTVHVWxJVEl5RWo4L3Z2dmFONjhPZGF0V3dkbloyZk1temNQSzFldXhBOC8vSUFSSTBhWWkzWUFHRGh3b0xuMU5DRWhvVkx4c0dYTEZpUWxKY0hPemc2Y2MremN1Uk9NTWZNRGdncXZ2ZllhVHA0OFdlM1BvdUttdjFldlh0VWUwNlZMRjZ4WXNhTGEvUUN3ZCs5ZUFPVnJYZ3dmUGh6TGx5ODN4OUt2WHovOC9QUFBXTEZpQlRadDJvVFdyVnRYdTFJMlVGNFFMRisrSEp4elJFUkVtTWM5ZlBYVlY5QnF0V0NNWWMrZVBaREpaTFVhdzNhbjlIckR6Ymt0cWFaakNTR2tvYkRHNGdFTS9EVEFSbCs3bG82U2t0STZLUjRxbXM3NzlPa0R6amxXcjE2TmxKUVV2UERDQ3hZTEdkMXE5T2pSMkxWcmwzbGNoS2VucDNsOWc1MDdkd0tBdWJ0VGZuNCtGaTllak5qWVdLU2xwUUVvbjFieG1XZWV3Zmp4NCtIdTdnNnRWb3V0VzdkaTY5YXRXTFpzR1FEQTBkRVJ2WHYzeGdjZmZJQmx5NWFoUllzVzhQWDF0ZWdDVkpQQXdFQzgrZWFiV0xwMEthWlBuMjdlWHQzYUQvZkw4ZVBIelN2aHF0VnFqQjQ5R3VQSGo4Y3p6enlEcTFldlZ2cyt0VnFOM2J0M20xKzNhOWV1em9xSE1uMFowdEt2QXdBWTR5ZnE1Q0trZm5FaENneVRNakt6VUZSWUJMWDcvU3NlOHZQejhmWFhYd01vSHp0dzZ3Sm9RSG14ZS9qd1lYT1hJYVZTaWE1ZHUrTHh4eCt2OHB3M3IyT1NuWjJOdlh2M1l2TGt5VGg2OUNnV0xGZ0FwVktKUng5OUZDKzg4SUs1cStHNmRldXdiZHMyckYrL0h0OS8vejM2OWV1SDFxMWJZL0hpeFdqYnRxMzVmSDUrZnRpeFl3ZWNuWjB0cnZIOTk5K2JYenM2T3VMVlYxK3QxQzFvNk5DaDFiYVkxbFpOclFRVkprK2VqT3pzYkx6NTVwdFYzdEEzYjk0Y1M1Y3V4YlZyMTh5VFR2ajYrdUtYWDM2cEZMTktwY0xCZ3djcm5TTXVMczVjcERnNU9lRzExMTY3bzhYOGFxdWtwTVNjVHpqSG1mdCtBVUlJSWJYajNhYmorRmJ0d3Zpb0J5ZnlhK25YZVYyNWR1MGFMeW9xNHB4elhscGF5cU9pb3U3cGZPbnA2WHpGaWhWY3A5T1p0eTFjdUpDLzhNSUxmTjI2ZFR3Mk5yYkc5MSs5ZXBWLzg4MDMvTVVYWCtTSER4KytwMWc0NTN6UG5qMzh3UWNmNUQxNzl1U2ZmdnBwcGYwZmYvd3hIekJnUUkzbjJMbHpKdzhQRCtmeDhmRzF1cVlvaWx5djEzTlJGTzhxNXJxV2s1UExSenp3Q0cvVkxvejd0ZzE5U09yZmRYTHZmQU03akdyVkxvd1BIZk1nVDdpYWVOOS9aMHdtRXpjYWpiVTY5bTUrNy8vNTV4OWVXbHJLOVhvOVg3dDJMYy9LeXFveGxyaTR1RHUrQnVlY0d3d0dydGZyNytxOXRzaGtNbkdEd1ZDbjEwaTdsbTdPSno1dFE4ZEkvYmRBQ0NIMWdkMytrUHJuNnh2YWltbllGVmNYRjdacHc5Y0lhTzEvK3pjUlVndlhNekl3NG9FSktDZ3M1RG9kODg5SU9rZGREV3hjODFhZGZGVXFNZEhaeVlsOSs4VnFoSFc4dS9WWkNMbFQ4UWxYOE1qa3FTZ29MT1I2ZzhrMy9jcUZWS2xqSW9TUXVtWjFVN1VDUUhMeStXUU9scHRmVUlEckdabFNoME1ha1BUcm1TZ3NLZ0lEYmxEaDBEQmNUenliQXVCR1lWRVI1UXRTcjlLdlo2Q3dxQWhneUtMQ2dSRFNXRmhsOFFCQUJNU3pBQkFUR3lkMUxLUUJpWXErOE8rL2VGU05CeEpid2puanB3QWdMaUZCNmxoSUkzSWg1dksvLytJMDNvRVEwbWhZYS9FQUJwd0VnQ1BIVGxqZDNPWEVObkhPY2Vqd1VRQ0F5SEJXNG5ESWZTU0FIUVdBazZmT1VyNGc5WUp6anFQSFRsYThxSDZhS2tJSWFXQ3N0bmpnNEw4RE1CdzdjUXFaV2RsU2gwTWFnTXpNTEJ3NWRod0FEQnppSHFuaklmZVBFZnhYY0s0L2RmWWNkVjBpOWVKNlJnWk9uRG9OQUFhWTJBNnA0eUdFa1BwaXRjVkRtYkUwZ1lQSDYvVjY3Tno5bDlUaGtBYmdyLzEvdzJBMEFwekhHblFtNmcvWGdKZ0tibHpsUUl4ZXI4ZnZPM1pLSFE1cEJQN2N2YmQ4NFVET1kvVk1kMFhxZUFnaHBMNVliZkdRWVRRV2diT1RuSE8rN1krZDVoV2RDYmtiSnBNSnUvN2FCODQ1NXd3bnhCTEZEYWxqSXZkUGVucTZuZ09IT2VmOGw5KzJ3VWo1Z3RRaGs4bUU3WC91TXVlVGRGRXNram9tUWdpcEwxWmJQQ0FwU1FjdUhnZVlMaVUxRFZjVGFXSWNjdmV1WEUxRVVuSUtHS0FIeC9ITXpQUEZVc2RFN2lzajV6akdHSXF2WGJ1T1M1Y3UzLzRkaE55bHk3SHhTRTI5QmpCV0NvN2pTRWdva3pvbVFnaXBMOVpiUEFBd1FUekpHTDlSWEZ5TTh4Y3VTUjBPc1dIbkwxeENYbjQrQUZiRWplVXo4NUNHUllUcFBEalM5UVlEamh5bnhjTkozVGw5OWh5MHhjVmd3QTNLSjRTUXhzYXFpNGZVMkF0Um5DTzlUSy9IMGVNblVGeE1ENHZKbmRPVmxlSFlpVk1vS1NrRklHWWtKNXluYVZvYm9MVFlDNWM0a0dReW1YRDArRWtVRkJaS0hSSnBnSXFMUzNEc3hDbm85WHFBODFUS0o0U1F4c2FxaXdlVXo0cXpBUUQyLzMwWWwrTm9EbmR5NTVLU1VyRHY3NE1BQU02eERnQjFpRytZakp6elRRQndOaW9hVWRFWHBZNkhORUNYNCtMTkxWdWNZd01vbnhCQ0dobHJMeDVRa21QNmxvTW41K1huWS8wUFAwa2REckZCWDM2ekh2bjVCZUNjSnhibkdyK1NPaDVTZDNUNStJbHpucWpWYXZIanBwK2xEb2MwUU45Kzl3TUtDNHZBSVY0cHplZmZTUjBQSVlUVU42c3ZIckt6TDJsRkUzK1BjNWgrLzJNbnJUaE43c2lseTNINGRkdDJjQTRUSUM3SnpyNmtsVG9tVW5jeU04OFhjL0NaQUl5Nzl1ekRoVXN4VW9kRUdwRG9pekg0WStkdWNBNFQ1L3c5bW5pQkVOSVlXWDN4QUFCaWlXazdBejhEQUVzK1hvR3lNcHJZZ3R5ZVRxZkR5dFdmbDc5Zy9KUlJGUDZRTmlKU0gwemEzQjBBL3hzQTNsKzBGS1dscFZLSFJCcUEwdEpTTFB2dkp4VXYvekZwUlZwUWhCRFNLTmxFOFpDV2RqR2ZjL1l6T0M4N0d4V05rNmZQU0IwU3NRRW5UcDNCcVRQbkFNREFSUDVMV2x6VWRhbGpJblV2TFMxTlp4THhMZWNvamI0WWczMEhEa29kRW1rQUR2MXpERkhuTHdDY2w0SHpIOVBTTHVaSkhSTWhoRWpCSm9vSEFLS0I4ZDg0a0tUVmF2SERwbCtRWDFBZ2RVekVpaFVYRjJQano3OGlOeThQQUs0YmpLWmZBWWdTaDBYcUJ6ZVorQUdBeCtqMWVuejM0eVprMzhpUk9pWml3L0lMQ3ZEVDVsK2dMUzRHQnhMTDlQby9BWENwNHlLRUVDbklwQTZndG9wdVpPWTR1WGtVTWJBeHFXbHBncXVySzhMRFFxVU9pMWlwVGIvOGhtODMvQWlUU1RTSm9tbDJhc0tGdjZTT2lkU2ZvdHpNUXNjbUhvV01zZkZaMmRtQ280TTl1bllPbHpvc1lxTysrM0VUTm03ZThtOCs0VE92WGJsSXpWbUVrRWJMWm9vSEFDaTRrWG5KeGMzRFJ4VEZUdWVpb2hIZXFTTzh2YnlrRG90WW1iUG56bVBXdS9OUldxb0Q1L3o3bExqei93RzFPalE2aFRtWmwxM2NtM2x3a1hlT3ZuQUpIVVBibzZXM3Q5UmhFUnR6OHRRWnpIMS9FWFE2SFJqSDE4bHhVVXRCK1lRUTBvalpWUEVBUUZRNE5EMnVWTWpHbFpXVnVmNXo5RGdiMkw4dlhKeWR3UmlUT2pZaU1jNDVrcEpUOE1vYnM1R1JtY1VCeEhGUmZMWWdONHY2ckRST29od3VCNVYyOHRGNnZiN1ozdjBIV2IrK3ZlRFd0QW5sQzNKYm5ITWtYRTNFODYrOGpwemNYQTdnVW9uZTlGUnhmaGF0UGtnSWFkUnNyWGhBU1g1MmlWUFRadWtDWXdPS1MwcnRVMUxURUJFZUJpY25SNmxESXhMTHpyNkJlZTh2UWxUMFJYQ09RaTdpbFpUNDg4ZEJmWk1iclpLU0hJTlRFNDg0eHRoZ3ZWN3ZGQnVYZ0k0aDdlSFd0S25Vb1JFcmw1aVVqUGYrc3hpeDhRbmduR2NiT1gvcGVrTDBlYW5qSW9RUXFkbGM4UUNBRitRMFRYQnBLdWpBMlBEVXRHczRGeFdOSVlQNlE2TldTeDBia1VodWJoNWVmbjBXanA4OEJaRnptSmhwVGtxc1lnTnduVlovYmVRS2NqSlRYWnA2YWhsam96T3pzbkEyNmp5R0R4a0VqVVlqZFdqRVN0M0l5Y1hMcjgvRTJhaG9jTTRCem1lbXhKNy9HZFJkaVJCQ2JMSjRBSkJ0eXMvSlBPYmkxZ3lpaUc0Wm1abUtRNGVQb25mUDduQnlkS1F1Q1kySUtJcElTa25GUzYvTnhObHpVUkJGWGlxS2ZHRnE3UG1sd0hYNm9pY0FJT2JuWko1eWFlcWg0K0E5c3JOemxMdisyb2ZlUGJyQjJka0pnbUFyazg2UnVtWXltWEExS1JuUHZEZ0RNWmRqSVhKZXdrVnhibkxzK1U5QWhRTWhoQUN3MmVLaFhMNkw0ekVYUVc1Z1lGMXU1T1NvanA4OERZVkNnY0RXclNHWDIvUkhJN1dnMSt2eDY3YnRXTGprWThSY2pnVUhTc0Q0Znd4RjJTdUtpb29NVXNkSHJFdCtUdVl4bDZZZXVRem9VbEJZYUgvb3lERXdBTzNhdG9GY0xwYzZQQ0t4c3JJeS9MRHBGeXhlOWw5Y3Vab0lEdVJBRk9jbm0wcFdJemVYV2pBSkllUmZOditJM3N2THkwN3A0UFlJQlBZWlkweGpiMitIaUxBd3ZEcjllWFFNNlVCUEZSc2dVUlJ4TmlvYWE3NVloeE9uVHFPNHVLUzhjT0I0V1YrWXRTazlQYjFFNmhpSmxmTHpVL3VxblVZeHh0WXpNRHVOUm9QMmJZUHc2dlFYMEsxclo4aGw5TkNoc1RHWlREaDUraXcrV2YwNXpsKzRoTkxTVW5ET2kwWE9wZ3BsK2I4bkpTWHBwSTZSRUVLc2ljMFhEeFc4Z3pxRXlwbjhPd0R0R1lOTUlaZWpmNzgrbVByRUpMUUpiQTA3alFacUdoTmhzM1M2TXBTVWxpQXU0UXErKzM0ajl1emJENlBSQk02NUNJYnpScFBoK2JTNFN5ZWtqcFBZQm0vL3NFQzVnbTlnQXVzRVFDR1R5ZENqV3hjOE8vVkpCTGRyQXp1TkhUUWF5aGNOVmFsT2g1S1NFbHk2SElldkl6Zmc4SkZqTUpsTUFHQVV1WGhPTkJpbXBsNkp1U0IxbklRUVlvMGFUUEVBQUMwRE9yU1d5V1hUd05oWUJnUURnQ0FJQ0FvTVFGQ2JRTFR5ODRXWHB3ZnM3ZTFoWjZlQlVxbVVPbVJTRGIzQmdKS1NFbWkxeGNqTXlzTFZ4Q1RFeE1ZaFB1RnF4WmM4T09leG5MRnQzR2o2UENVKytxckVJUk1iMHpJb3lFc085VE9jc1ljWVE4ZUs3UUd0L2RFdXFBMzhXL21pdWFjbkhCMGNZR2R2QnhYbEM1dFZwdGViODhuMWpBeGNUVXpDNWRoNHhGKzVXajRnR2dEblBCcGdXL1FHNDdyMEt4ZFNKUTZaRUVLc1ZvTXFIZ0FBQVFHcWxsQjdDM0xaQ0FaTVpZeVpsNVZsRE5Cb05KREw1WkRMNU5TbHlZcUpYSVRSYUlUUllFU3BUbWYrZ2djQXpoSEZHYjQwbFdGM21xQk5RVUpDbVlTaEVwc1dvZkR5TDIydVVDZ0dDOERURUZpdm0vZHFOQm9vNUhMSTVaUXZiSmtvbHVjVGc5R0kwdEpTaTMyYzgyTWk4SzBBdGl2cHNqNGR1S1NYS0V4Q0NMRUpEYTk0dUlXM2Y5c1F1Vkw1R0pqUWk0RzNBcUFFWnpMT3VBQ3dobkUzSVA1N1l5MDBwUCtkWEdTY2lXRGNCRUF2aWtnV0dEOEkwYlFwTWU1aWxOVFJrWWFwdlBWU2VJSXoxbHNBQytUZ1NzYVp2RUhsaTFzMXlQeHhxL0o4d2hrM01VRFBSU1J3aUllTlROaHc3WEpVbk5UUkVVS0lMV25JM3hhVnVMa0ZPYXFkQkUrNWpObHptV0RISUc4US9SQTBDajVjQUZNV0c3Qk42bGp1Rnc2ajNtZ1NTNWpJdENXc0xDczNJWUZXZFNYMXlzTWoxRjdwS0hyS0JlNGdDb0lkZzB3bGRVeDF3VjdCQndITXZpSGxqMXR4bU1xTW9sZ2lpRXlyS3hBenM3TXZhYVdPaVJCQ0NKRk1wMDZkZG9TRmhSMldPZzVDaU8wSkR3Ly9pZklISVlTUTJtcVl6ZkNOU0VoSVNBaUFZTVpZbTMvL1RRZ2h0UklhR2hyRU9ROWhqTFVKRFEwTnYvMDdDQ0dFTkhaVVBOZzRRUkI2TU1iY0FUakpaTEx1VXNkRENMRWRNcGtzbkRIV0VvQVRZNnkvMVBFUVFnaXhmbFE4MkRBL1B6ODFZNndINTF3RFFBbWdaM0J3c0lQVWNSRkNySitmbjU4YVFFL091UU1BcFNBSVBjTEN3bHlram9zUVFvaDFvK0xCaHJtNnVqb0tndENaL2I4UXVWeE9YLzZFa050eWRYVjFaSXoxdWlsL0JISE9tMGtkRnlHRUVPdEd4WU1OTTVsTUxRRUVWTHhtakxVWEJDR2docmNRUWdnQWMvNW9XL0dhYzk1R0pwTUZTUmdTSVlRUUcwREZndzBUQk9GeEFHck9lY1VpYW1yRzJBU0p3eUtFMklCLzg0ZW1Jbjh3eGxTaUtJNlhPaTVDQ0NIV2pZb0gyeVZuakQxV3hmWUhBU2pxT3hoQ2lFMnBNbjh3eGthRDhnY2hoSkFhVVBGZ296cDE2alNTTWViNWI0c0RBRlE4UGZUbzFLblRBeEtHUmdpeGNxR2hvWU9yeVIvdWxEOElJWVRVaElvSEc4VTVuMXpEN3FmckxSQkNpTTJSeVdRUDE3Q2I4Z2NoaEpCcVVmRmdnNEtEZzMwWVk1MHFuaG95eHNBWUEyQitlaGdXSEJ6c0kyV01oQkRyRkJRVTVNVVlDNjhwZjRTR2hyYVNNa1pDQ0NIV1N5NTFBT1RPS1JTS3Zvd3hqNXU3SE56Q1dhMVc5d0NRVW85aEVVSnNnRWFqNmNvNTk2M2hFR2VaVERZQVFHSjl4VVJJWStIdUh1eGcxMFR1TG5LVG0weFEyRXNkRDdFZVJwR1h5QmpQTHM0cHUzSGpSbXlSMVBIVWhJb0gyeU5qaklYOHU3QlRsVGpuYWdDZEFQd0N3Rmh2a1JGQ3JKMU1FSVQyblBOcTE0UGhuS3NaWXhFQTFvUHlCeUgzaFh0d3NJTzlLSi9Ed01hQU1iWEFtWm96VHZkZ3hFd2h3QWdtNkJ6YzFXVU9iaDEzRnd1Rzk3SXZYZEpLSFZkVjZCZlh4a1JFUkRod3pqc0RFUDd0WW1EZXh4aXI2SFlnQU9qU29VT0hwaGN1WE1pVUxGaENpRldKaUlod0VFV3hKMk9zeHZ6Qk9RK2ovRUhJL2RFaUlOUmJJYkoxQUFhRE1VRXVrMEdwVWtJbWswa2RHckVpSnBNSWZWa1pqQ1lUT0hnN2UxSFJYaDNRNGFYVWhBdFhwSTd0VmxRODJCaFJGRnNBNkhyemwzNVZPT2RkQlVGb0JZQysvQWtoQU1yekIyT3NkeTBPN1VqNWc1Qjc1K1VWWVNkWEdMOWxZSU1VQ2dVRzllK0xybDBpMEtLNUp4d2RIYVVPajFnUmJYRXgwcTZsNDh6WktPemV1MC9RNncxRFpYTDUxeDRlb1NNek04OFhTeDNmemFoNHNER2M4NUdDSURqVU1ONmg0dW1oZzB3bUd3cmdXUDFGUndpeFpwenprWXd4cDFya0QzdktINFRjTzRXajZYWEdNVUN0VWVNLzg5N0drSUVENE9Ua2lOczlBQ1NORStjY0R6NHdHc09HRE1UTU9lK2h0RlRYVysyQ2Q1Q0pkNldPN1dZMDI1SnRrVEhHbmdjc1owaTUyUzNicHdDZ2RsRkNDRUQ1ZzVCNjVlWGxaU2N3L2loalRCZzFmQWhHREIwTVoyY25LaHhJdFJoamNISjB4S0QrZlRGOHlDQXd4Z1JCRUo3dzl2YldTQjNiemFoNHNDRmhZV0hkR0dNQnRUMmVNZGE2VTZkT3RlbWlRQWhwNERwMjdCaEIrWU9RK3FOMGF0WU1qS25sY2prNmhuU0F2VDFOcmtScVI2MVdJeXcwQkVxbEVoeFFLQlNPemFTTzZXYlViY21HbUV5bUdNWlkyQzJiT3pQR2xnQlFjYzVmQjNEcTVwMTZ2VDYxM2dJa2hGZ3R1VndlSzRyaXJma2pGTUFTeHBpaktJcHZNOGIrdVhrbjVROUM3cDVKTkxqTEJibGFxVlRDMDhPcTd2MklEV2p1NlFHTlJvMnlNcjNTcEpLN0FVaVdPcVlLVkR6WWtPam82RHdBZVRkdkN3c0xjMldNR1RubmNzNzVsWFBuemtWSkZCNGh4SXFkUG4yNkFJQkZmZ2dORGRYSVpESTk1OXdrQ01MVk0yZk9VUDRnNUQ2UkNRcDd6cmhjSmhQZzRGRHQ3T3FFVk1uUjBSRUt1UUpna0FsY1psV2o2Nm5iRWlHRUVFSUlJYVJXcUhnZ2hCQkNDQ0dFMUFvVkQ0UVFRZ2doaEpCYW9lS0JFRUlJSVlRUVVpdFVQQkJDQ0NHRUVFSnFoWW9IUWdnaGhCQkNTSzFROFVBSUlZUVFRZ2lwRlNvZUNDR0VFRUlJSWJWQ3hRTWhoQkJDQ0NHa1ZxaDRJSVFRUWdnaGhOUUtGUStFRUVJSUlZU1FXcUhpZ1JCQ0NDR0VtSEhPWVRRYTYvUWFTVWxKZC9XK3YvNzZDOU9tVGF0MnY5Rm94SWNmZm9qOSsvZlg2bnhHb3hFRkJRWFY3cy9MeTZ2em40V3RvZUtCRUVJSUlZU1k3ZHk1RXdNSERrUm1acWJGZHM0NU1qTXphL3l2dUxqWTRqMlhMbDNDZ2dVTExHN0FqeDA3aG9jZWVxaktHL3lFaEFRODlkUlR1SHIxYXBXeDVlVGs0TUtGQzlYR0xwZkxjZUhDQlVSR1J0YnFzeDQ2ZEFpREJ3L0duajE3cXR3L1o4NGNqQjQ5R2lhVHFWYm5hd3prVWdkQUNDR0VFRUx1WEVwS0N0YXRXM2RQNTJqYnRpMGVlK3d4ODJ1RHdZQTFhOWJBejg4UE9UazV5TW5KQVFBRUJBU2dyS3dNSTBlT3JQRjhyNzMyR3A1NDRnbno2OUxTVXV6WXNRTUtoUUp6NTg0RkFIVHIxZzNoNGVGWXVIQWhRa05EMGJScFV3QkFRVUVCM25qakRXUmxaU0UzTnhmKy92NTM5WmtlZU9BQkxGMjZGQmN1WEVDSERoMXFQSGJuenAxUXE5WG8yYk5ucFgyRmhZVTRmZm8wUm8wYUJabE1kbGV4TkVSVVBCQkNDQ0dFMktEOC9Iejg5ZGRmZC9WZW5VNEhBQ2dxS3JJb0huNzg4VWVrcDZjak56Y1h6ejc3TEl4R0k0eEdJN1p1M1Fvdkx5OXMzTGdSZXIwZVR6enhCR2JNbUlGZXZYb0JLRytWZVBUUlIrSGc0R0J4bllpSUNFeWZQaDJmZlBJSkFnTURNV0hDQkRERzhPNjc3MkxDaEFsWXRXb1ZGaXhZQUpQSmhObXpaeU05UFIxTGxpeEI1ODZkYS9VNUNnc0xzWGZ2WG90dFdxMFcvdjcrdUhqeEl1TGo0eTMyOWVqUkE4MmFOWU5PcDBOaFlTRU9IRGlBc1dQSGdqR0drcElTQUlCYXJZWWdDTmk1Y3lkTUpoTzZkZXRXcVJVR0FKbzBhUUtGUWxHck9Cc1NLaDRJSVlRUVFteFFhR2dvL3Zubm56dDZUMUZSRVJZdlhvemR1M2ZEeWNrSm8wYU5NdSs3Y09FQ1ZxOWVqZW5UcDJQcTFLblE2L1Y0NnFtbjBLUkpFM2g1ZVVFUUJBUUVCS3Z6NXA0QUFDQUFTVVJCVkNBbUpnWUFFQjRlam9DQUFBRGxOK3dBWUc5dlgrbWFqei8rT0hKemM5RzNiMS96Tmw5ZlgvenZmLzlEeDQ0ZEFRQXltUXdSRVJFWU1HQUFCZzhlYlBGK285R0l1TGc0QUVCR1JnWTQ1N2gwNlpKNS84S0ZDNnY4ck11V0xhdTBiY1dLRmRCcXRaZzRjYUo1MjVZdFc3Qmx5eGJ6NisrKyt3N0J3Y0g0N2JmZkFNRGNZbktyaXVNYUd5b2VDQ0dFRUVJYWdaTW5UK0s5OTk1RFZsWVdCZzBhaE5telo1dTdET1hsNVdIV3JGbnc5dlpHMTY1ZGNlblNKZno4ODg5SVNVbkJLNis4Z3N1WEw2TjE2OVpRcVZSWXYzNDl2THk4RUJnWUNJUEJBSVZDZ1lNSER3SUEzTjNkQVFDSmlZbDQvUEhITGE2L2VmUG1Xc1c1Y3VWSzg3L1hyVnNITnpjM2k2NVFBTXl2Zi9qaEIremF0UXNBRUIwZGpSYi94OTZkeDBWVjlYOEEvNXc3TXpBc2d4c29LUllwQmFMQTNFRk5LdzMzc3ZRcE16WEx0SHFlY2tsYjNGTFR5dHhhMUxSSTB5ek50SG9zVFV2VFVuTk5MSmtCM0F2Tnl0ekFqWjFaN3ZuOUFjeVBWY2J0UWZIemZyMTR5YjMzbkhPL2QrU2w5OHZaR2pSQTdkcTEzZVVPSFRxRXhvMGJ1NDhEQWdMdzExOS9BUUI2OU9pQnFLZ285N1g5Ky9manYvLzlyL3V6T25qd0lKNTQ0Z2xFUjBlWHVQZTJiZHZ3elRmZjNKQzlEZ0NUQnlJaUlxSnFMU3NyQzdObXpjTHk1Y3NSR0JpSWQ5NTVCKzNhdFN0UkpqOC9IOEhCd2Rpelp3K0dEUnNHdlY2UDlQUjAxS3BWQzYrOTloclMwOU94YU5FaWZQdnR0OWk0Y1NQZWUrODlKQ1ltWXRpd1lUQVlESEE0SEdqWXNLSDdOL0V1bHd0NWVYbTQvLzc3RVJFUmNkRXhIejU4R0N0V3JJQ21hYWhkdXpiV3JGa0RBSmc1Y3lZMmJkcUVsU3RYQWdEcTFLa0R2VjZQakl3TVRKNDhHV2F6R2UrODh3NkFndmtNcjc3NkttYlBubzA3N3JpanpEMVVWUzB4aDhQWDE5ZWRQTXliTncrQmdZRVlOR2dRdkx5OFN0UTdkdXdZQURCNUlDSWlJcUxxWmYzNjlYajc3YmVSbnA2Tzd0Mjc0NldYWG9MSlpDcFRMamc0R0I5Ly9ERmF0V3FGS1ZPbUlDb3FDbTNhdEVGOGZEenExNitQdUxnNGJOaXdBVHQyN01CNzc3MkhsaTFiSWpNekV5MWF0SUMzdHpjNmRPaUE5dTNidzl2YnUwUzdkOTExRjdwMDZYTFJjVy9kdWhVclZxd0FBQ2lLZ25yMTZrRktDWnZOQmlrbDFxMWJoNzU5KzBLdkwzaVZuVDE3TnZMeThqQml4QWgzRy9mZWV5OFNFaEl3WXNRSXpKczNEMDJhTlBIbzN0dTNiNGZWYXNXNGNlUEtKQTRBM0Nzdk1Ya2dJaUlpb21wbDlPalJxRjI3TnViTW1ZT1dMVnRlVmx2MzMzOC9ubnZ1T2J6ODhzdjQ5dHR2OGNZYmJ5QTNOeGYxNnRWRDkrN2RTNVRWNi9VSUNncUMwV2hFZW5vNmZ2amhCNC91b2RQcDBMdDNiM2g3ZXlNb0tLakVDM3BDUWdMUzA5T2gxK3Z4OWRkZjQralJveGc3ZGl5MmI5K09GU3RXWU5Tb1VRZ09EaTdSM2l1dnZJTFRwMDlqNk5DaCtPU1RUOUN3WWNOS1kyamR1alVhTjI2TWhnMGJZdm55NWVqUm8wZUo2MHdlcUxyd0VVSU1zVmdzLzZycVFPanFjN2xjaXFJb29VSUluWlR5a0JCQ3ErcVk2UG9qcGJ4SkNGRmJTc21mSDZKcUxEdzgvS0lTaDlHalI3dC9vejlvMENBb3l2OXZDeWFsUkVKQ0FoNTc3TEVMdGhFYUdvcTFhOWNDQVBidTNZdjQrUGdMbHRjMERYYTdIUWFEQWIxNzkwYkxsaTNkOVl0ODlkVlhxRm16SnJLenN6RjE2bFE4K2VTVGlJNk94b3daTXhBVkZZVmF0V3FWYVhmVnFsWG8yTEVqL3Zubkh3d1pNZ1NmZlBKSnBjK3ZLQXJhdDIrUDZkT25ZK25TcGFoVnExYUpZVjRPaHdNQXl1MlZ1QkV3ZWJqT1NTbHpwSlJPSVlRM2dKNVZIUS85YnhUL2gxd0lVWVdSMFBXczZHZEhDSEhhNlhSbVYxS2NpRzRRRHozMEVFSkNRakJseWhUMDZkTUhOV3ZXeEp0dnZna0ErT1dYWDVDVGs0T0ZDeGRpOGVMRnlNL1B4Lzc5KzBzc0didDY5V3JVckZuVGZkeTBhZE1LVjRWeU9wMVl0V29WNXMrZkR5a2xCZzRjV0c2NXc0Y1BZL1Btelhqa2tVZXdZc1VLUkVaR1l1SENoZGk1Y3ljTUJnUGF0bTJMc1dQSElqdzhITGZjY2d1QWd1Vm9aODJhaFR2dnZCTXpac3pBNHNXTDRlL3ZqN05uendJQXhvOGZqL0hqeDFmNE9Rd2JOZ3cybXczang0L0hva1dMM0JPdml6YThZODhEWFpjY0RzYytiMi92dDZXVW5nM2tvMnBCU2hrbGhMaFRTaW1rbE51RkVMdXJPaWE2ZmtrcEQrWG41eWRWZFJ4RWRHMW8xYW9Wb3FLaU1HWEtGTnh6enoyb1g3KytPM2xZdFdvVlFrSkNNSGp3WUFEQUJ4OThnS0NnSUR6eXlDUHUrdVV0MTFxZUgzNzRBZkh4OFRoMzdod0dEQmlBUng5OUZFYWpzZHl5NzczM0hsUlZSV2hvcVB0Y2t5Wk4wS1JKRXp6ODhNUFE2L1ZZc21RSlB2NzRZN3orK3VzQWdCVXJWaUFyS3d2OSt2VkRhR2hvbVVUaFFxc3RBUVhKd2JScDA5QzdkMitNSGowYW4zMzJHWXhHbzd2bm9mVDhqaHNGazRmcjNMNTkrN0lBeks2MElGVXJaclA1QlFDdEN3Ky9zdGxzNzFabFBFUkVWSDBjT25RSVVrb0F3TUdEQjkyN1RPZm41MlByMXExNDdybm4zSk9nbHk1ZGlnWU5HcFNaRkgzaXhBbjNTM1pGM256elRkU3BVd2Z4OGZHb1VhTUcwdExTeXBReEdBekl6czdHbGkxYk1IdjJiQnc5ZXJSTW1hSUo0RTgrK1NSbXpweUpMbDI2b0duVHB2am9vNDhRRnhkWDRWNE1GMXB0cVVoSVNBaUdEUnVHdDk1NkM2dFdyVUt2WHIxZ3Q5c2hoSEFQN2JyUjNKaFBUVVJFUkVRbGFKb0doOE9CaFFzWHVvZmt4TWZIUTZmVEFTajRUZnV5WmN0UW8wYU5TdHQ2NFlVWHl1enVYSjV6NTg2aGYvLytGVjV2MUtnUlB2LzhjOXg3NzcyNDY2Njc4T1dYWDFaWXRrK2ZQbGl6WmcwbVRKaUFpSWdJNU9YbDRhV1hYcW8waHNyMDZ0VUw5ZXZYUjVzMmJRQVVESWU2VVhzZEFDWVBSRVJFUkFRZ0l5TURBUEQrKys4akpDUUViZHEwd2V6WnM5MUx0ZHBzTnJ6N2JzbU83dkxtUFBUcjF3OFRKa3hBVGs3T0JlODNZc1FJTkduU0JFOC8vWFNGWlh4OGZLRFg2ekZ4NHNSSzQ5ZnI5WmcyYlJwNjl1eUpIVHQyWU1pUUlXalFvRUdsOVNvamhIQW5EZ0NRbTV0YjRmQ3FHd0dUQnlJaUlpSUFzYkd4TlJ3T1IrT1VsSlJrQUs2cWp1ZHlhZHJGTGFSMjZOQWhBRUM5ZXZYS3ZSNGFHb29KRXlhVU9GZmVuSWRHalJyaHR0dHVxL1IrQm9NQmRlclVRZlBtelNzdFc5VDdjU0hIangvSHhJa1Q0WEs1VUtOR0RTeFlzQUJHb3hHOWV2VzZva09Nc3JLeTRPUGpjOFhhdTk0d2VTQWlJaUlDb0dsYXFGNnZUMVJWOVlDVThqMHA1Y3JzN096MDFOUlVPd0JaMWZGZHJQMzc5d05BdVp2Q2xXZkhqaDBJQ1FsQmpSbzF5dTAxcUZXckZscTBhRkhpWEVWekhqemhjRGl1eUlxQjU4K2Z4K2VmZjQ3Rml4ZERyOWZqN2JmZmhzVml3Y1NKRXpGOStuUjgvdm5uNk4yN043cDI3WXJhdFd1NzYwMmNPQkdUSjA5MkgzdVNiTm50ZGh3NGNBQWhJU0dYSGZmMWlza0RFUkVSVVRGQ2lBZ2hSTHlVY3BMSlpOcW9xdXBtQVB0ZExsZEtTa3JLcWFxT3J5SlBQLzAwakVZai9QejhvR2thZnYzMVZ3QkFkSFIwcFhYejh2THczWGZmb1Z1M2JnQUtoZ0NaeldiOC9mZmYyTGx6SndEQTM5Ly9zdUw3OU5OUGtaNmVEajgvUDV3NGNRS1ptWmtJREF5ODVQYisvUE5QTEZ5NEVELzg4QVB5OHZMUXVYTm5EQjgrM04zbWpCa3pzR1BIRHN5ZlB4OHpaODdFdSsrK2kwbVRKaUVzTEF3QTBMWnRXOXgrKyszdTlnNGRPbFJpTTd2OC9IeU1HemNPTjkxMEUwd21FM1E2SGJadDI0YlRwMCtqWjg4YmQzVjhKZzlFUkVSRXBVZ3BJWVNvQmVCaEtlVkRBTTdwOWZvL1ZWVzFhcHEyTERrNWVRTUFaeFdIV1lMZGJrZFMwdit2dWh3UUVJQWVQWHA0OUtLYm5wNk9ldlhxNGRGSEh3VlFzQUZhOCtiTk1YcjBhQmdNQmp6MDBFTmxkbSsrV0gvODhRZFdyVm9Gb0dBWVVyTm16ZEM3ZCs5TGJzOWtNdUdYWDM1Qmh3NGQwSzlmdjNLSFNyVnUzUnF0VzdmRy92Mzc4ZlBQUDZOejU4NDRmUGd3QUNBdUxxN0Vha3ZyMTY4dmtUeDRlM3Zqd0lFRCtPbW5uOXpuOUhvOXVuYnRpaWVlZU9LUzQ3N2VjWGNwb3V1UTJXeCtRUWd4SFlDUVVyNlVsSlRFcFZxSmlDNlRxcW94UW9na0FPNmxTa3NyR21ZanBmeEhDTEZJMDdTRjZlbnBSNDhlUGVwQXNXUWlOTUljQnlFL0R6Q1pnajk4YnlaYXRheDhYUCtWNEhLNW9HbmFGVjFLdERDUnVpSnRBWERIZHlYYTFEU3R4TWFwbm5BNm5UaDE2aFJxMWFybDBkd0ZwOU9KL1B4OE9Cd09CQVFFWFBUOUxrWENMN3N3YlBqTFNEdDkraHdrSGpweUlHblRWYitwaDlqelFFUkVWTDJJcUtpb1czVTZYVUJWQjNLOTBUVHQ5cUtKdWNWZmJJc25Fa1hmQ3lFYUFCZ3JoSGdoS0Nqb2w2Q2dvQVJOMDM0UlF1eEpTa3FxZkkzU3EwU24wM2swdWZoaVhNbkVBY0FWZmZtK2xMYjBlajNxMTY5L1VlVnYxRDBkeXNOUGdvaUlxQnBSVmJWdFljK2taOXY4a3B1VXN0ekYrOHRMSklvbEViNEE0cVNVOXlpS2tpMkUrTjFzTnUvS2Q4aS9jbHpYM1J4cm9rb3hlU0FpSXFwZTdnVVFpNEtsUmkrOHhTK1ZkdEcvWWk4K3BFY0k0UU1nWEZFVXZhSzQ3TUxGNGVGVS9UQjVJQ0lpcW9ZMFRkc0JZSHBWeDNFOVVSUWxGTURNMHVjdk5QOUJTbW1YVWg0QmNFaEttZUowT3RmczNyMTdTOEdjQnp4OGxVTW0rcDlqOGtCRVJGUU5DU0dPMm15MmI2bzZqdXRKNFlScEFCNU5tRDR0cGZ4QlNya2F3TjZjbkp5anYvMzJXL3IvS2xhaXFzTGtnWWlJaUtnYzVVMFVsbEttU0NsbjJ1MzJwZnYyN2JOWFFWaFgzTGx6NTVDZW5vNWF0V3FoVHAwNkYxM1h5OHNMdnI2K1Z5bTZBbmw1ZWZqenp6L2g1K2ZuOFFadEdSa1pTRXRMUStQR2phOXFiRGVhcTcvV0ZCRVJFZEYxcGpCeHlKVlM3cGRTcnRJMGJhemRibyswMld3eFNVbEpDNnRMNG5EMjdGbjA2OWNQdlh2M2R1L0I0Q21uMDRsSEgzMFU4K2ZQOTZpOGxCTEhqaDNEOXUzYmNlYk1HUUFGRzdHTkhUc1dLMWV1dkdEZEtWT21vRy9mdnBnelo0N0g4YzJjT1JQOSsvZkh1WFBuUEs1RGxXUFBBeEVSRVZFeFVzcS9BWHlqYWRwUEFQYWVQMy8rcnlOSGp1UlZkVnhYbXQxdXgvRGh3M0hxMUNrMGE5WU1jK2JNUVhoNE9PNjg4ODRLNjdoY0x1VG41N3VQZS9Ub2djOC8veHo5K3ZXRDBXZ0VVTEMwNmNtVEp6Rm56aHhrWjJjakt5c0xHUmtaT0hic0dQTHlDajdHd1lNSDQrbW5uNGEzdHpmeTgvTXhiZG8wUkVSRUlEdzh2TXc5bHk5Zmp0V3JWK09lZSs3QjJyVnIwYVJKRXp6KytPTVhmTFpObXpaaDFhcFZlUDc1NTFHelprME1IejRjQ1FrSmxYNG16enp6RFByMzcxOXB1UnNaa3djaUlpS2lBc2VrbEIxdE50dG1YR083UjE5cFdWbFplT21sbDVDY25JeUpFeWVpUTRjT0dEeDRNRWFOR29YcDA2ZmpqanZ1S0xmZWxpMWJNR0xFaURMbk8zWHE1UDYrUjQ4ZTZOcTFLOWF0VzRkV3JWcWhZY09HcUZXckZvS0NnbEMzYmwwRUJ3ZWpZY09HN3ZMang0OUhyMTY5TUdiTUdDeGR1dFNkaEFEQW1qVnJNR1hLRkR6ODhNTVlPM1lzWnN5WWdaa3paeUlqSXdPREJ3OHVOOFlqUjQ3ZzFWZGZSYXRXcmRDdlh6OEFRTisrZmRHNWMrZHl5MmRuWjJQR2pCbkl6YzNGcmJmZVd2bUhSMFIwdlRHYnpTK29xdXBTVlZVem04MHZWSFU4UkhUdFVGVjFxc1Zpa2FxcWZsN1ZzZHpJUWlQTWNhRk5ZbzVIdDd4Yjd0ajVxN3lXbkRoeFF2YnUzVnRhTEJhNWRPbFM5L256NTgvTHh4NTdUTFpvMFVJdVg3NjgzTHBaV1ZueXQ5OStrL0h4OGZLMzMzNlR2Ly8rdS90cndZSUZjc3VXTGZMVXFWUFNhclZLaThVaVQ1dzQ0VkZNNjlldmx4YUxSWDcrK2VkU1NpazFUWk1mZmZTUmpJMk5sYU5HalpJT2g4Tjlmc2FNR2RKaXNjaWhRNGVXYWYvNDhlUHl2dnZ1azUwN2Q1WnBhV21WM2pjN08xcysrZVNUSmU1OUxkaXg4MWZaNHU0T01yU0orV3hvaERtdXFuK2VpK09jQnlJaUlxSWJ4UHIxNjlHblR4Lzg4Y2NmbURwMUtoNTk5RkgzdFlDQUFNeWZQeDkzM25rbkprMmFoREZqeHJqbkpoVHg4L09EajQ4UGxpeFpncDkrK2dsaFlXRUlDd3VEd1dEQVJ4OTloTysvL3g1QlFVRVhIVmVIRGgwd2UvWnM5T25UQnlkT25NQUxMN3lBRHo3NEFMMTY5Y0xVcVZQZE96d0xJZkRpaXk5aS9QanhzRnF0Nk5tekp6NzQ0QU9jTzNjT2h3NGR3cE5QUGdtSHc0RVBQL3dRZ1lHQldMZHVIWnpPOGp1UjB0TFNNSGp3WUNRbkorT2xsMTVDbno1OUxqcnVHeEdITFJFUkVSRlZjK25wNlpnMWF4YldyRm1EQmcwYVlQYnMyWWlLaWlwVHpzZkhCOU9uVDhmY3VYUHh5U2VmSUNFaEFjOCsreXdlZlBCQjkzQ2lrSkFRakJ3NUVyTm16VUx2M3IxaE1wbncybXV2NFpaYmJzSDQ4ZU12T2NhNzdyb0xKMDZjd0NPUFBBSXBKYnAyN1lxVksxZFdPSm42UC8vNUQxSlNVckJnd1FJRUJ3Y2pLeXNMRG9jRDgrYk5RMmhvS0g3KytXZU1IVHNXWThlT3hjTVBsOXh5NDVkZmZzSFlzV054OXV4WkRCOCtISDM3OXIza3VHODBUQjZJaUlpSXFxbTh2RHg4K3VtbldMUm9FZkx5OHRDMWExZU1IajBhL3Y3K0ZkYlI2WFFZTW1RSTdyenpUcno2NnF0NCsrMjNNWC8rZkl3ZVBSb2JOMjVFVmxZV0FDQTRPQmpqeG8xRFZsWVdkdS9lamZEd2NJd2NPUklBMEt0WHIwcGp5OHJLd3F4WnM5ekgwZEhSNk5hdEcwYU9IQW1MeFFLajBZaldyVnNEQUU2Y09JSDQrSGo4KzkvL3hpMjMzQUlBVUZVVkF3WU13S0ZEaDlDNGNXUGs1T1RncnJ2dVFxTkdqV0MzMnpGOStuU0Vob2FpZS9mdTdudWNPblVLOGZIeCtPNjc3MUMvZm4zazV1Wmk3dHk1Y0RnY2VQVFJSK0hsNVhYeEgvSU5oc2tERVJFUlVUWGxjcm13Y3VWSzFLdFhEeU5Hak1DWU1XT3daY3NXait2Mzd0MGIvdjcrV0xKa0NjTER3M0g2OUduM2lrbEF3ZktyVWtyY2M4ODlKZW9aREFZQUJaT25LekpwMGlRc1g3N2NmV3kzMjlHdFc3Y1NML3RkdTNZRkFCdzhlQkR4OGZGbzFhb1ZWRlV0MFU3UlBnNit2cjd1NytQajQzSGt5QkY4K09HSE1CZ01PSG55SkpZdFc0YlBQLzhjbXFiaDJXZWZ4WUFCQTNEbXpCbTg5ZFpibUQxN05yNzY2aXNNSHo0Y2NYSFgxQlNEYXc2VEJ5SWlJcUpxeXMvUEQzUG56a1Z3Y0REMGVqMmVmdnJwTW1XMmJ0MEtxOVdLNTU1N0RqcWRyc1MxNk9ob21NMW05TzNiRjNxOTN2MWIveUlmZnZnaDFxeFpVMlpva2MxbUF3QTgvL3p6cUZHakJ2THk4akJ4NGtUMDZkTUgwZEhSN3JhM2J0MEtBTzVWa1FEZzZOR2pTRWxKS2RIZWlSTW5BQUFKQ1FrNGZ2eDRpV3VSa1pFSURRMTFIeWNrSkdESmtpWG8zTGt6R2pac2lPSERoN3NUcHZidDIyUG8wS0h1amVhQ2c0TXhZOFlNYk4yNkZWT21UTUh3NGNQUnVuVnJ2UEhHRzZoVnE5YUZQdG9iRnBNSElpSWlvbXFzK0xLb1R6enhSSm5ycDArZmh0VnFSZCsrZmVIdDdWMXVHMFVUbGgwT1I0bWVoL3o4ZkdpYWhzek1UUGM1ZzhFQWw4c0ZvR0FpZEowNmRaQ1ptWW1KRXljaU9qb2FYYnAwS2RPK292ei9HajQybXczVHBrMHJjVjFLQ1FCWXZIaHhtWjIvbjMvK2VYZnljT1RJRVl3ZVBScFNTb1NHaHFKT25UbzRkKzRjK3Zmdmo1NDlleUk0T0xqYzUydlRwZzJXTFZ1R21UTm5ZcytlUFRDWlRPV1dJeVlQUkVSRVJPU2g3Nzc3RHBNbVRTcHp2dmhRbng0OWVyZzNtZ3NJQ0xqb2UzVHIxZzNkdW5YRDc3Ly9EcDFPaDBhTkd1SGd3WVBvMjdjdjR1UGpvYW9xRWhJUzBLcFZxeEwxL3Z6elR3d2FOQWhTU25lQ29kZnJNWC8rZlB6NDQ0OUlUazVHY25MeUJlL2RzbVZMREI0ODJKMHNVVm44WklpSWlJaHVBRHQyN0hBUC95a3VOVFVWQVBEdHQ5K1dHYllFRkNRR1JVTjRPblhxVkdMT3daZGZmb2t0VzdZZ1BqN2VmYzVrTW1IYnRtMHdHbzN1dVE4WEt5Y25CNk5HallLZm54OCsvZlRURXRmMjd0Mkw1NTU3RHYzNjljUHp6ei92UGo5MTZsVGs1T1FnUGo0ZS8vblBmOXpublU0bnBreVpVcUlOVGRPUWs1TURIeCtmTXMrOGRPblNTNHI1UnNIa2dZaUlpT2dHc0dUSkV1ellzYVBDNjFPblRpMzNmRmhZbUR0NThQZjN4L0hqeHpGaHdnUzg5ZFpicUZtekp2UjZQWEp6Yy9IUlJ4OWg4dVRKTUJxTitQMzMzMHZNUTdnWUxwY0w0OGVQeCtuVHB6Rjc5dXdTUTVvQW9HblRwaGcyYkJobXpab0ZrOG1FcDU1NkNrQkJqMGVEQmczUXRHblRFdVc5dkx5d2VmUG1FdWRTVTFQUnUzZHZ2UGZlZTJVbVlOT0ZNWGtnSWlJaXVnRzgvLzc3NVo2Zk9YTW1QdnZzTS96ODg4OFZ6bmtvYnQ2OGVjakl5Q2d4ZjhEUHp3ODdkdXpBOU9uVE1XN2NPT3pldmRzOU1mcGlPQndPakI4L0h0dTJiY003Nzd3RGs4a0VLU1grK3VzdkFQOC85K0tKSjU3QTRjT0hFUjhmajRZTkc2SlRwMDdvM0xuelJkK1BMaDZUQnlJaUlpTHl5TzdkdTdGeDQwYTgrdXFySllZazNYenp6Umc0Y0NCbXpacUZsaTFiWXMrZVBlNGVnY3I4L3Z2dk9IbnlKQm8wYU9CZTBXbmF0R2xvMDZZTjR1TGlrSjJkRFUzVFlEUWFTNnoyTkc3Y09CaU5Sc1RFeEZ6eDU2U0tNWGtnSWlJaUlvOTgvUEhIdU8yMjIvREFBdzhBZ0h0VkpRQjQ3TEhIMEtSSkUyellzQUhCd2NHNCsrNjdLMjB2TlRVVkF3Y09SRUJBQUxadTNZcUZDeGRpNE1DQjdnblBvMGVQUm5wNk9oUkZ3UjEzM0ZGaUFyYkJZTURMTDc5OGhaK1FLc1BrZ1lpSWlLZ2EyNzkvUHhJU0VpcTh2bmZ2WGdBRnk2Q1dOMkVhS0pqcjhNZ2pqMkRxMUtrNGV2UW92dm5tRytqMWVtellzTUg5UWw5VTk2dXZ2c0xZc1dNcmJLdEllbm82Qmc0Y0NLUFJpSVVMRjJMVnFsVjQvLzMzOGQxMzM2RnQyN2E0NmFhYjRPWGxCWlBKQkNFRTl1N2RpNzE3OTBKS0NhZlRDYWZUQ1pmTEJhZlRpY2FORzVlYnJLU2xwZUhCQng4c2M3NW82ZGNoUTRhVVdmb1ZBQllzV0lDSWlJZ0x4bitqWXZKQVJFUkVWSTN0Mzc4ZkN4Y3V2R0FaZjM5L0xGNjh1TUxyd2NIQmVPU1JSMkEwR25IcnJiZWlYNzkrc052dHFGMjdOb1lPSGVvdWw1MmRqYmk0dUF2dUxGMmtWcTFhQ0F3TXhNU0pFeEVZR0lpbm5ub0swZEhSK1BycnI3RisvWHFjT1hNR2Ryc2RtcVpWMmxicDFaU0ttRXdtVEpnd29kTDZwZFd2WC8raTY5d29tRHdRRVJFUlZXTTlldlR3NkdYZVV6cWRyc0pWbStMaTRrcnMrVkRFWkRJaE1UR3hURHNMRml5QW41K2YrMXp6NXMzUnZIbnpNdldsbE80aFVwcW1RVXJwN2owQVVHYWlkL0dlbHZJMnBhTkx4K1NCaUlpSWlLcEU4Y1RoUW9RUTNManRHcUZVWG9TSWlJaUlpSWpKQXhFUkVSRVJlWWpKQXhFUkVSRVJlWVRKQXhFUkVSRVJlWVRKQXhFUkVSRVJlWVRKQXhFUkVSRVJlWVJyWGxHMUZSUVU2ZTliV3gra1NWZWdUakY0dGhiY2RjTHVjTlh5TXVqT1NFQnhPRnkxUWlQTVpSZlZ2bzQ1TlptakV6SXQrM1IrZW5yNndjeXFqb2VJaUlnS01IbWdhaWNvTXRMZlQ5T1BGUkRkSUlSUmtjSW9oYXhXUCtzNW1rQmVucFFBWEpvUXowRElaNm82cGl2Sm9NQUpvZVQ1Qnhuei9RTmpmc2hXSEJQUzl1M0xxdXE0aUlpSWJuVFY2b1dLcUVGWWRJaEJFd3NBZElRUWlsNm5nNWUzRjNRNlhWV0hSaGZCNWRKZ3o4K0gwK1dDaEd6aXB4bWFHc09hRGY0N2RjK2hxbzZOaUlqb1JzYmtnYXFOK3ZWamZmVUc1MElCMGNGZ01LQkRYRnUwYkJHTEJqY0Z3MlF5VlhWNGRCR3lzck54OUo5anNOcVM4Y09HallyZDd1aXMwK3MvcmxjdnV1dkpreW5aVlIwZkVSSFJqWXJKQTFVYkJwUHJSU0hSenVoanhNVHhMNk5UKzNZSUNEQkJDRkhWb2RFbGtGS2l4NzhlUUpkTzdURnk3QVRrNXViZGJheUpNVGlKVjZvNk5pSWlvaHNWVjF1aWFxRisvZnEraXBCOWhCREsvZmQyd24yZE82SkdqUUFtRHRjeElRUUNUQ1owaUd1TGV6dDFnQkJDVVJTbFgwaElpRTlWeDBaRVZCbVhkR1lKd0tHNU5PVGs1RlIxT0hTZHljbkpnZFBsQkNSY0x1bThwdWI4TVhtZ2FzRXJvRzVkQ0dIVTYvV0lpV29HUDc5cXRialNEYzFvTk1JY0hRVXZMeTlJd0dBd21PcFdkVXhFUkpXUjBuNGNFcmwyaHdPbjB0S3JPaHk2enB4S1MwZGVYajRBNUV0cFAxN1Y4UlRINUlHcUJaZm1DSUtVUmk4dkx3VFg0N3RsZFhOVGNEMzQrQmdCQ1MrWHR6NndxdU1oSXFyTTBkOStPeW1CYklmRGdmMEhmME5lWGw1VmgwVFhDYnZkZ1gwSERpSS9QeCtBekQvNjIyOG5xenFtNHBnOFVMV2dVd3grVWtDdjB5bnc5L2V2Nm5Eb0NqT1pURERvRFlDQVRvR09zOStKNkhyZ2hOUytsRkpxSzc5YmcxK3RTY2pOeTRPVXNxcmpvbXVVbEJKNWVYbll2WGNmVnF6OERwcW1hWUJjQk1CWjFiRVZ4d25UUkVSRVJGZUJQZlAwZTE0QmRidG1aR1MySGZyU0tMUnIyd1l4MGMzUW9QNU5NUEVYWFZSTVpsWVcvdm5uR0hidjNZY05tN1lpT3ljSEV0amh5RWgvdTZwaks0M0pBeEVSRWRGVmNPellzWno2cHNCbkRGSjhkUDU4eHAwcnYxdWpmTC91Ui9qNitrS3Y1eXNZL1QrSDA0R2NuRnc0SEE1SUtTVWt0cm5nZXU3WXNXUFgzR3g3L3VRU0VSRVJYU1hIRHFZY3JOV28wUU1CWHFaSkF2SmYrUTY3SWYrOHd3Q0F1NWRTY1M1QU9nVGdrRUt1eTNUbUREK1RtcHBSMVVHVmg4a0RFUkVSMFZWMDl2RGg4MmVCb1VGQmtXTjhhK3VETk9rTTFDa0dMZ3RJYms1TjV1aUVUTXMrNDB4TFM5dDNUUzNOV2hxVEJ5SWlJcUwvZ2JTMGZWbElReGFBUDZvNkZxSkx4ZFdXaUlpdXNwQ1FFSitJaUlnNlZSM0h4V3JXckZsRFZWVmZVVlUxc3JLeTBkSFJmakV4TVEwdTVUNFdpMld0cXFyOUtycHVOcHZqVkZWZGRpbHRYMG1xcWtiR3hzYmVYUHE4dWNBakFMZ3JKUkZWZSt4NUlDSzZpbUpqWTMwMVRkc0Q0QkNBemdBOFdhZFJIeHNiVy9NeWJucytNVEhSRVJzYlc4UGxjdDNxU1FXbjAzbDZ6NTQ5ZnhjL3A5UHBiaEZDdkNHbFRBV3dEd0JpWTJNTlVzb3BBTlpicmRaMXhjcXVBK0FOb0RWS0xTdW9xdXBIQVA2eTJXeVRBR2psM0w0NWdFMFZ4YVlvaWdsQXo1aVltTTdKeWNrL2xGY21OamJXb0duYW9QejgvTG43OXUyekY1MDNtODFtSVVTbC85ZTVYSzRUS1NrcFJ3RWdPanI2VnAxT3R3TEE4emFiYlhOaEVUMkFOWnFtN1FWd2YvRzZRb2huQUhRRVVPVUpEaEhSMWNhZUJ5S2lxeWd4TVRGSENQR3BFS0tqeFdJWjRra2RpOFhTWEVxWmRobGZYUUJBMDdST2lxTFlQUGt5R0F5dmhvV0ZCY1RHeGtaRVJrWjZYZUI1WEZMS1pnQytqSTJOalNnNkw0U1lBQ0JXVmRYeHBaN2xCU0hFMDBLSWxyakUvM09zVnVzYUtlVkpSVkZlcUtpTTArbHNKNFNZWVRRYU4wZEdSZ1lYblZjVVpaTVFZaTJBcnlyNkVrSnMwZWwwN3JZTkJzTVpJVVNtRU9KSHM5azhvT2dXbXFhTkVrSjB0VmdzUFVyZHZpMkFkU0FpdWdHdzU0R0k2QXBRVmZVbElVUkFCWmNOVXNwOEljUWRGb3VsM0IyeVhTN1h6NlYvcXk2bG5BNWdWNm1pcllVUXc2U1VMd1A0czlTMU1DSEVHOFhhVE5EcGRJOFd4U0NFbUF2Z3RKUnlWT243U3lrUEJRUUVkSmRTTHRicjlWRUE5bFR3TEpyZGJuL015OHNyR2NCM1lXRmhsdFRVMUF5cjFicFJWZFZQaFJCakxSYkxZcXZWbXFxcWFnY0E3d0RZS1lUb0JRODNPbEpWdFlPVXNuU1B5VUVoeEI5bXMvbmZwYzZuSlNVbHJVeE9UdjdCWXJFOElLVmNaalFhZjFGVnRadk5aa3N1TFBPbXkrWDZ2S0w3NlhTNmhjV1BFeE1UejhmR3huYVJVaTVYRk9YMThQRHdydzhlUEppWm5KejhYN1BaSEN1bGRJOVhqNDJOalpCU0hVMzY0Z0FBSUFCSlJFRlVOZ1Z3cHJDSHBiamZiVGJibTU0OE14SFI5WUxKQXhIUmxmRVNnR0FwWlY0RjE1MVN5b2NxcXF6VDZXWUJLSjA4YkV0S1N2cW0rRGxWVlFGZ21KUnlYVkpTVWxMeGF4YUxwUlVBZC9KUU9Bem5Dd0F3bTgwamhCQyttcWIxVFVwS1doa2VIbTd5OGZIcGxwU1V0TFJZL1hCUEhuVHYzcjFuTEJaTGZ5bGxlR3F4cFFSZEx0Y29uVTczaWMxbVN5MDhQcXpYNjlmbTVPVDBQM0RnUUltMXltTmpZMi9XTksxdTRhRWVRQU5WVlpzN25jNHpBQVlwaXZKd09iZHVxeWhsT2k4U0Fhd0VBS3ZWdWpZbUpxYURUcWRiQnNDZHBFa3BKK2oxK3RFWGVLUUFLV1dKenpJeE1URW5Nakt5dTVlWDF5Mit2cjc3Q3o5M0FJQVE0ckhDNHdPYXBpVURPRlA0VlRveFBIV0JleElSWFplWVBCQVJYVG5yYlRiYnZWVWRSR21Sa1pIQmlxS01CL0JOVWxMU1NnRHc4L1ByQ2VCamk4V1NhYlZhdi9Xa0hZdkZzcmdvQVpLeVlPcUdxcXBsZGo4dC9xSXRwWVNQajgrZnhjNTliN1BaSHRFMGJhd1E0dG1pazBLSTV3QThwOWZydjVaUy9qcy9QLzg1SHg4Zkw1ZkwxZDV1dDY4dEt1Zmw1ZFZJcDlPZHpNM056UVlBVGRNY3hlK2RuSno4UzJ4c2JKalZhblVVYTN1aTArbjB1T2VoU09IY2ljT3FxazRDMEFrRmMxWkdGaThqaEhoTFNqbVpQUXhFZEtOZzhrQkVkSlhGeE1UY3JkUHBJcTFXNjd6aTU1czFhOWJRNFhDY08zandZR1o1OVJSRnFXczJtME5MblE0cS9MTysyV3crVityYVRlVTBvek1halV1a2xQa3VsOHY5c202MVdoZXFxdnB2QUxOalkyTTNKQ1ltVnJxTHFaVFNCMEMyRUdKcVpXVXI4QklBbjhLMlhuYTVYSk1BTk5EcjlRbFN5cWt1bCtzRGw4dVZzM2Z2M25NQW9LcnFLMEtJMXcwR1EvUGs1R1FiQUVWVjFZMVN5cjk4Zkh5NkpTWW1GaVVJd21LeHZDV2wvTTVtczIwdWRyNG83amQwT3QyckZRVWxoREFXNjNuUVdTeVdiNlNVbTJ3MjIzUUFMcHZOTnRkc050Y1NRdHhsczlubUZ0VlRWWFdPbE5KUENKRmxzVmdlTCtmeldtZXoyZEl1OGJNaUlyb21NWGtnSXJxQ1ltSmlHdWgwdXVjQnpMTmFyYWtBb05QcG5wWlM5b3lOamYyaytJdXR3V0I0eTh2TDYrSG82T2lRbEpTVThvYTRmRmpPTUIwQWdLSW9xejBJUjIreFdINEEwRTRJTVU5UmxIK3BxbG9QUUYwaFJEMHBaUzBoUktpbWFhOEFHT3ZKOHdraHpscXQxbmM5S1Z0YThSZnNwS1NrY3dET1dTeVdvcFdMd3ZWNmZkT1VsSlIxQUJBVkZkVklDREZXU3ZsK1llSUFGS3pVOUNpQUxWTEtUd0QwQXlBaklpSnFTeW5qQUx5a3F1cmJpcUtNVDB4TWRKck41aHFhcHIwUFlEMkFFc09TU2oxVGJ3RHAwZEhSZmlrcEtUa0FEZ2toM3JGWUxLb1E0c25FeEVSSDRZcE5ybEwxNmtncHZ3VHdmbm50YXByV0JnQ1RCeUtxVnBnOEVCRmRRWHE5M2lTbEhDbWxQQTNnVFFEUU5PMW5SVkVHdUZ5dWxnQzJGeFlWQU5vRE9GaEI0Z0JOMDhZQzJGSDhuQkNpdlJCaXZLWnAvd0dRV3FwS3BLSW84Y1dPblFBTWhkOC9JNFFZQU9DNEVPSjQ0WjgvQVRnTllIaHNiT3luUlVPUktpS0VPQzJsUEFFQVpyUDVRVVZSU3ZlS2xFdEt1YzFtcysyU1VwNEVrRjdxV244aEJBQTBBZkJsVEV4TXkrVGs1TU1HZzJHUmxQSlVmbjcrdU9MbGJUWmJja3hNeklNNm5XNmRxcW9uYlRiYjhBTUhEcHlPakl5OHk5dmJlN1lRWXJTVXNrRnNiT3lMVXNxaUYvY1NiVlR3Yk5Ecjlhc0JQR0MxV2wrd1dDeHBBQ1pwbW5ZSXdLc28rQndORm92bGdXS3h2NllveWo4dWw4dWRlR21hNXEvWDYxZEtLWVdpS0FjOStYeUlpSzRuVEI2SWlLNFFLYVZtdFZvUFdDeVdRd0I2b0RCNWtGTCtEQlM4K0tNd2VZaUtpbW9taEtoYitCdjBFbHd1bDE2bjAwRlJGS3ZWYWkyeC80R3Fxa1hMa080cVo4SjBtY25hbXFiMUExQlRDUEdQeldaTHQxZ3NJd0RVdEZxdDR3RDNha0VUSEE1SHZsNS80ZjhTckZhcmU5aVRvaWo5cFpTZEt2bElmSVFRQ29BeEFIYlpiTFlTK3lPb3Fob2poSWlSVW1ZRCtCVEFIWXFpekRPYnpUdFJzRi9FYTBhak1SakZrcVRZMk5pYk5FMXJwMm5hVzRxaWpMTllMQ2VzVnV2YmhmTVRCcXFxK3F2TDVWcG5NQmlLbnIrbDNXN2ZyeWlLbjVlWDE0bWlZMjl2Ny9jQklEOC8vemtBTUJxTmJ3SzRwZGl6VGphYnpVZHpjM09YRjU3eUExQkhTdmtGQUFnaC9JUVFUeVVtSm40QzREd0FSRVpHZW5sN2U2OUJ3ZXBhYlpPU2t0anJRRVRWRHBNSElxSXJ3MDhJa1FVQVVzclZBSWJHeE1RMFNFNU8vaWM1T1htZnFxcm5oQkIzRlJVMkdBejNBWUNtYWQrVjA1YWg4RnIrNVFhVmxKUjBwTlNwRGxMS1lCVCtOajR4TWZFQWdMNEFZTEZZN29LSHJGWnJoU3RIUlVkSGgrdjErb2xTeXA0QWxoVzljSmNtaEJnTDRGc2hSRWNwSllRUS85RTBMVVFJOFoyVTh2WEN6ZGZDVVRBOENRQ2dhVnAvQUsvb2RMcElsOHRsa0ZLV1dNcldack10QUlEWTJOaHlsOFM5R0VsSlNZdUtIZm9CU0xUWmJDMExOOHF6bC83N0tlejVhS3BwV3R0eVBuY2lvbXFCeVFNUjBSVWdoREJKS1RNQVFOTzAxVHFkYnBnUW9pdUErU2pZVlRvRkJUc3BBd0NrbFBjRFNFdE9UdjY1ZEZ1Rk95b0R3QzFtczlsYzZ2SXRoV1hDUzErU1V0NVdPQVFJQUJBZUhtN3k4L01yblJBRUNpRk1Gb3VseEtwUWVYbDUyengvMnZJVjlncE1Fa0wwbDFKdUFuQ0gxV290dlU4RkFDQTZPdG9pcGV3cHBleWdLRXBIQUVoTVRFd0hrQjRXRmhhWm1wcWFaYkZZOGdGTXNWZ3NyMXV0MXRUUTBGQ2pFR0lZZ05XRlNVK1o1VmN0RnNzRE9UazU3cUZlaXFMOFlqUWFVZEd4MFdqc1g2eDZpWGtrcXFyZVlyUFppdmJTcUNPRU9BTUFXVmxaUmo4L1B5aUs0bDlxMzRsMktPZ2x1Y2RzTnQ4RElLZjRVcmhFUk5VQmt3Y2lvc3NVRmhZV0FFQUg0QndBbkQ1OWVtdFFVSkJkQ05FRkJja0RoQkM3QWJTTmpvNitWVkdVczBLSU82V1VpMUF3Q2JpMElBQlFGS1hjSlVRTGZWSFJaT29pUGo0K2pRRjhYOEhsRXVjTE40YXJVSFIwdEo5ZXJ5OXZOU2MzVGRNZUZVSThKYVY4V1FqeE5RQllMSmF3MHVXY1R1ZHhuVTQzQmdWRHJ6WlpMSllTMTR2MmpuQTZuZkY2dmY1RkFKOEFpS3RWcTlaSUtXVTlUZE1tVkJDQ0F1QXpIeCtmN1E2SG81ZGVyNDkzdVZ5emhSQ2U3TGZRdGRRbWZ6b0FleXdXeTJ5cjFUcE9DQkVzcFR3S0FMNit2a1lBa0ZMV0ZrSzRkNllXUXRRRzBGQUljVnZoOFNrQVRCNklxRnBoOGtCRWRKbE1KbE5UQUpCU0hnQ0FvMGVQNXRhdFczZW5sTElEQ2w1Q1hRQjJBNENpS00yRkVFWUFlaUhFVnhVMGVUTUFhSnAyRjRBU1M2Z0tJYm9JSWFZQjZLTnAyc0ZTMTZLRUVKOFdIZHZ0OW4xZVhsNjNsaXF6Q0VDUWxMSnI4Zk1HZytFZktXWHBYZzQzUlZFNkFWaFI0WWRRMEhiUm45TUFUS3VvbkU2bmUwUkt1VTFLbVhpaDlsSlNVckl0RnNzUUFGK3JxdnFaRU9KaEtlVzhZcXN2bFJBZEhXMEdVRU1Jc1RrbEpTWGJiRGJ2VUJURmVxRjdGRFBXWnJQTkxqcUlpWW1KRmtMNG8zQytoWlR5ZGlIRWxzTEx2b1YvN3JEWmJPN25WRlYxRTRCVW04MVdlaGRzSXFKcWc4a0RFZEZsRWtKRUFZQ2lLTVZmYWpjS0lkcVl6ZVk3a3BLU2ZuWTZuYXQxT2wyYzNXN2ZZVFFhdjVSU25sVVVaVU1GVFRZSGtKNlVsRlJtU0pPcXFoRUFvR25hd1hJbVRCdUxIeGRPSWo1U3FreXVsTkplM3BoOFZWVmRBUEoxT2wyWjNoQ2RUcmZONVhLMXF5RGVJdDBWUlhsUjA3VEhBZnhUVVNFaHhONmtwS1F6S0xYMGFYbXNWdXR5VlZVWEZRNkZPcE9Ua3pPcW9ySjZ2YjR0QUVncE53S0F3K0g0M3R2YnUyUGhuSXVqbXFZTkZVSzRsNVNTVXZycmRMcDNwWlNOaEJBbEpxYnJkTHE3QU1EcGRHNHltODJoUW9pNm1xYjlDZ0F1bDh0VU9Mazh1N0w0aVlpcUd5WVBSRVNYcjV1VU1pc3pNM05QMFFtSHcvR3B3V0RZa0pTVWxBQUFLU2twUndFY05adk5OYVdVOXdraFBpMjltUmtBUkVaRytoZXV5bFJSWW5HbEtURXhNVGNwaW1LMzJXeWZBeWgzSitiQytRaWJ5cnRXcENpeFVSUmxaOUVlRjVkSnFLcjZiTkUrREVLSVFGOWYzMVdxcWc2eDJXejd5aW5mUVVwNXptYXpXUUZnNzk2OVp3QWt4TVRFM0svVDZUYnBkTHJoUW9naGlZbUo1eTBXU3hjcDVYdFNTb2ZMNVdxZGtwSlNlbG5WdGdEK1RrbEorY05pc1F5UlVrb2h4QytGenhjQUFDNlhxOXpOL1lpSXFqTW1EMFJFbDZGWnMyYjFBTndyaEZpY21wcnFYbjFuOSs3ZGh3RWNMbDFlVVpUZUFMd0JMQzZ2UFM4dnJ6NEFqRkxLOGxaaHVpQXBwWmNRQXBxbVNRQUlDd3Z6OXZYMXJhOG9TbjBBUlY5aFFvakF3aUUyTndzaFFsQ3d1dE00QUZPS3R5ZUVxRkhZYnFVOUJJWGx2SVVRS1A3Yi9VdWxxbW9ISWNRa0FLMmtsTjlLS1o4UVF0d3JoSGdmUUlyRll2bEtTam5IWnJOdEJhREZ4c2I2Rmc0VCt3R2w1cEVrSnlmdlZWVTFCZ1hMd1I2d1dDeXBBR0lBdkpPWm1mbG04YiszUW5vQW5RRjhDMENSVWc0Q3NORm1zeDBEQUNGRS9jSnlaNHRYRWtJb2xlMlZRVVIwdldQeVFGVEZKa3lZZ05XclZ5TWlJZ0pMbGl5cHRQeThlZlB3NFljZklqUTBGRjkvL1RVQVlPYk1tZmpzczgvS2xEV1pUQWdQRDBlUEhqM1FwVXVYS3g0N0FRYURZU1lBdmFacEg1bk41Z0ZDaUxtVlZORURnSlR5UjFWVmk1L2ZrcCtmMzBOUmxJbFN5bk01T1RtVi96QUFlbFZWcDBzcE14VkZjVWdwSHdBQUljUlJBRENaVEI4S0lmcVhxcE9CZ3FGTTUxSHdjbndFd0JHbjAva3JBRmdzbHNWU3lud0FEZ0QzQWtEaFJtbGxGTzRSOFp5VU1sTUlrUS9nY1NtbGxwMmQ3Y2tFNVhLcHFqcXdjSWxXVlVwNVZFcjVlRkpTVXRGbjhVVlVWTlE2dlY0L1dnZ3hTQWpSMjJLeHBPVGw1YlZ3dVZ5ZEZVWHhBYkN4cUsyd3NERHZnSUNBUnBxbTNTR0U2QWlnS1FBL0tXV29FRUlERUdVeW1ZWllMSllrSVVScVltTGlNUURPbUppWU5nQnFhSnEyMldLeERBTFFWRXI1bXFxcWM0VVFUZ0RkQVB5VmtwSnlTbFhWZTZTVXR3b2hqRkpLRmNBdmwvcnNSRVRYQXlZUFJGV3NTNWN1V0wxNk5RNGNPSUIvL3ZrSERSbzB1R0Q1SDMvODBWMnZNcG1abWRpMWF4ZDI3ZHFGaElRRXZQcnFxMWNrWmlvUUd4dnJxMmxhR3lubDBxU2twSjh0Rmt1V2xQSzFDOVdwNkRmVFVzcS9BUGpMZ2dKdkhEeDRzTndoTVVJSU80RHpMcGZMaFlJZHBMc1gyK2s1SDhCOG04MldEQUF1bDJ1T1RxZExFVUljY1RxZFIxd3UxNUhDb1R3WGlxK1pFS0pvNG5TbXBta3pVMUpTeXAxMFhMaXgzRUFoaEs2dzdsa0FveXFLM1JPRnF4cDVTU21IWkdWbExTamRLN0I3OSs2ekFGNE9EdytmN09mbjE5UGxjaDNadDIrZjNXS3gzQWJBNFhRNmYxSlZ0UU9BaFFBYUFCQ0tvdndOWUlPVWNtaGFXdHJxbzBlUDVxdXEyZzVBZHdCUFNTbWJBRkJVVlpWU3lpbENpSk5TU2sxS3VVVksrUzZBTlRhYjdTdFZWUitXVW9ZSklYYTdYSzZKaFNHMVVoUmxXdUhmMno0cDVZZVgrdXhFUkVUMFB4SWFZWTRMYlJKelBMcmwzWExIemwvbDljVGhjTWk0dURocHNWamtwNTkrZXNHeWh3OGZsaGFMUlZvc0Z2bm5uMys2ejgrWU1VTmFMQlk1YnR3NDk3bmMzRnk1Wjg4ZU9XVElFSGVkZGV2V1hiWG51SnAyN1B4VnRyaTdnd3h0WWo0YkdtR09xK3FmdCtKVVZZMjVFaHVTRlRHYnpiZWhZTW5SaTZFTEN3dnp2b1I2RjJ6eklzcUtpeXgvSVpmOERMR3hzVFVLWTlGYkxKWlJaclA1WDlIUjBTR1YxWXVNalBTM1dDeXRWRlh0MTdScDA5cUZiZDBFQUdhenVXWjBkSFJkRDJLK2twLzlaVkZWZGFyRllwR3FxcFk3ZjRXSTZIS3c1NEdvaXVuMWVyUnYzeDdmZlBNTk5tellnSDc5K2xWWXRxalhvVW1USnJqNTVwc3YySzdSYUVUVHBrM3g3cnZ2b20vZnZqaDA2QkMrL2ZaYmRPN2MrWXJHZjZNcitpMy9sWktVbFBUN0pWUnpwYWFtZWpRdjRXTGF2SWl5OGlMTFgwaDUrMTU0SkRFeDhYemh0MDZyMWZxV3AvWDI3ZHVYQlNDaDhLdW9yZU1Ba0pTVWRNNkRKaTQ1WmlLaTY4MDE4NXNTb2h0WjBRdjk3dDI3Y2VwVXhjUEYxNjlmRDhDeklVdEY5SG85T25Ub0FBRDQ0NDgvTGlOS0lpSWl1dEV4ZVNDNkJqUnYzaHkxYXRVQ0FHemN1TEhjTWtlT0hNR2hRd1h6VmkrMjk2Qm16Wm9BZ01wMkpDWWlJaUs2RUw1SkVGMERkRHFkdTNkZ3c0YnlsL2YvNFljZkFBQ3FxcUpldlhvWDFmNlJJd1g3Z2RXdlg3K1Nra1JFUkVRVlkvSkFkSTBvNmsydzJXdzRjNmJzZ2poRlE1YnV2ZmZlaTJyMzlPblRXTDE2ZFlsN0VCRVJFVjBLVHBnbXVrYW9xb3JBd0VDa3A2ZmpwNTkrd3NNUFAreStWalJrU2FmVG9XUEhqaFcySWFXRTAra0VBRGlkVHV6ZXZSdlRwMDlIZG5ZMm9xS2kwSzFidDZ2K0hGZVRkR253TldnZExSYkxYVlVkQzlHMVNrcDVwNVFTVWtyK0gwOUVWeHovWVNHNlJpaUtnbzRkTytLTEw3N0FoZzBiU2lRUFJhc3N0V3paMGoxL29UeHIxNjdGMnJWclM1elQ2L1hvM3IwN1JvNGNDWVBCY0hXQy81K1J3c3VnZjFaS1dhZXFJeUc2aGdrQUVFTGNWdFdCRUZIMXcrU0I2QnJTcFVzWGZQSEZGOWkxYXhmT256K1BHalZxQUxqMElVc0EwS3RYTDd6NDRvdlZaTEswZ0FEc3VITExnaEpWTzFKS1JWRVVSZE0wTGlGTFJGY2Nrd2VpYTBoVVZCU0NnNE54NHNRSmJONjhHZDI3ZDhlUkkwZVFtcG9LTHk4dnhNVmRlSCswKys2N0Q1TW1UVUplWGg1Mjd0eUppUk1uWXVuU3BUaDc5aXdtVFpyMFAzcUtxMGdJbVozdm1PV3RFNmVyT2hTaWE1VmVyMzhZd0gxQ2lNTlZIUXNSVlQ5TUhvaXVJVUlJZE9yVUNZc1hMOGFHRFJ2UXZYdDNkNi9EM1hmZkRYOS9mNC9hTVJxTnVPZWVleEFmSDQvKy9mdmorKysvUit2V3JYSC8vZmRmemZDdk9xRUlPS1RobDkvM0pHMnE2bGlJcmxXcXFvWUJ1QStBbzZwaklhTHFwenFNWXlDcVZvcFdSRXBJU0VCV1ZwWjd2c09sREZtS2lJakFzODgrQ3dCNDU1MTN5bDNGaVlpSWlNaFRUQjZJcmpHUmtaRUlDUW1CMCtuRW1qVnJrSnFhQ2w5Zlg5eDk5OTJYMU40VFR6eUIwTkJRWkdSazRKMTMzcm5DMFJJUkVkR05oTWtEMFRXb1U2ZE9BSUFsUzVZQUFOcTFhd2R2Yis5TGFrdXYxMlBNbURFQWdIWHIxbUg3OXUxWEprZ2lJaUs2NFRCNUlMb0dGUTFkT25yMEtJQkxHN0pVWFBQbXpkRzFhMWNBd0pRcFU1Q2JtM3Q1QVJJUkVkRU5pY2tEMFRYbzl0dHZSMmhvS0FDZ1pzMmFhTm15NVdXMytjSUxMOERmM3g4blRwekFCeDk4Y05udEVSRVIwWTJIcXkwUlhhTysvdnByajh1KytPS0xlUEhGRnk5WXBrNmRPdGk4ZWZQbGhrVkVSRVEzTVBZOEVCRVJFUkdSUjVnOEVCRVJFUkdSUjVnOEVCRVJFUkdSUjVnOEVCRVJFUkdSUjVnOEVCRVJFUkdSUjVnOEVCRVJFUkdSUjVnOEVCRVJFUkdSUjVnOEVCRVJFUkdSUjVnOEVCRVJFUkdSUjVnOEVCRVJFUkdSUjVnOEVCRVJFUkdSUjVnOEVCRVJFUkdSUjVnOEVCRVJFUkdSUjVnOEVCRVJFUkdSUjVnOEVCRVJFUkdSUjVnOEVCRVJFUkdSUjVnOEVCRVJFUkdSUjVnOEVCRVJFUkdSUjVnOEVCRVJFUkdSUjVnOEVCRVJFUkdSUjVnOEVCRVJFUkdSUjVnOEVCRVJFUkdSUi9SVkhRQVJFUkhSalNBb0tOTGZ0N1krU0pPdVFKMWk4S3ZxZU9qYTRkUmtqazdJdE96VCtlbnA2UWN6cXpxZUMySHlRRVJFUkhRVkJVVkcrdnRwK3JFQ29odUVNQ3BTR0tXUWZBY2pONE1DSjRTUzV4OWt6UGNQalBraFczRk1TTnUzTDZ1cTR5b1BmM0NwV25CSlo1WmU2QnlhUzBOT1RrNVZoME5YV0U1dUxsd3VGeURoY2tubk5mbVBLUkZSZVJxRVJZY1lOTEVBUUVjSW9laDFPbmg1ZTBHbjAxVjFhSFFOY2JrMDJQUHo0WFM1SUNHYitHbUdwc2F3Wm9QL1R0MXpxS3BqSzQzSkExVUxVdHFQUS9yazJoME9uRXBMcitwdzZBcExUeitOdlB3OEFNaVgwbjY4cXVNaEl2SkUvZnF4dm5xRGM2R0E2R0F3R05BaHJpMWF0b2hGZzV1Q1lUS1pxam84dW9aa1pXZmo2RC9IWUxVbDQ0Y05HeFc3M2RGWnA5ZC9YSzllZE5lVEoxT3lxenErNHBnOFVMVnc5TGZmVG9aR3hHUTdIQTdzUC9nYjh2THlZRFFhcXpvc3VnSWNUaWQrK3owVmVYbjVBR1QrMGQ5K08xblZNUkVSZWNKZ2NyMG9KTm9aZll5WU9QNWxkR3JmRGdFQkpnZ2hxam8wdWdaSktkSGpYdytnUzZmMkdEbDJBbkp6OCs0MjFzUVluTVFyVlIxYmNWeHRpYW9MSjZUMnBaUlNXL25kR3Z4cVRVSnVYaDZrbEZVZEYxMEdsOHVGMU5SRFdMbjZlMmlhcGdGeUVRQm5WY2RGUkZTWit2WHIreXBDOWhGQ0tQZmYyd24zZGU2SUdqVUNtRGhRaFlRUUNEQ1owQ0d1TGU3dDFBRkNDRVZSbEg0aElTRStWUjFiY2V4NW9HckRubm42UGErQXVsMHpNakxiRG4xcEZOcTF2UnN4VWMwUTBxQSsvUDM5cXpvOHVnajUrZm5Jek1yQy9nTy9ZY1czcTNINjlCbElZSWNqSS8zdHFvNk5pTWdUWGdGMTYwTEFxTmZyRVJQVkRINStYRnlKUEdNMEdtR09qc0thZGV1UmI3Y2JEQVpUWFFCL1ZuVmNSWmc4VUxWeDdOaXhuUHFtd0djTVVueDAvbnpHblN1LysxNVpzMjQ5L0h4OW9kZnpSLzE2b21rYUhBNEhzbk55NEhLNUpDUzJ1ZUI2N3RpeFk1d05UMFRYQlpmbUNOSXJlcU9YbHhlQzY5V3Q2bkRvT25OVGNEMzQrQmlSbjIvM2NubnJBOEhrZ2VqcU9IWXc1V0N0Um8wZUNQQXlUUktRLzdJNzdBYjdlWWNCQUplMXVMNjRBT2tRZ0VNS3VTN1RtVFA4VEdwcVJsVUhSVVRrS1oxaThKTkM2blU2aGIzZmRORk1KaE1NZWdNZ29GT2s3cHFhWGMva2dhcWRzNGNQbno4TERBMEtpaHhUc0JtUGs1dnhYR2ZjbStXY2NhYWxwVjJiNjF3VEVSSGRpSmc4VUxXVmxyWXZDMm5JQXZCSFZjZENSRVJFVkIxd3RTVWlJaUlpSXZJSWt3Y2lJaUlpSXZJSWt3Y2lJaUlpSXZJSWt3Y2lJaUlpSXZJSWt3Y2lJaUlpSXZJSWt3Y2lJaUlpSXZJSWt3Y2lJaUlpSXZJSWt3Y2lJaUlpSXZJSWt3Y2lJaUlpSXZJSWt3Y2lJaUlpS3NIaGNDQXRMZTJLdE9WME9uSCsvUGtLcjU4OWV4Wk9wL09LM090SytmdnZ2NnM2aEdzV2t3Y2lJaUtpYWtCS2lRRURCcUJGaXhaSVRFeXN0UHlVS1ZNd2RPalFjcTlObURBQkkwYU1nSlRTbzN1Zk9YTUdWcXNWcWFtcFphNXQzYm9WSFR0MnhJOC8vbGh1M2JGangrS0JCeDZBeStYeTZGN2J0Mi9IL2ZmZmo3eTh2SEt2SHo5K0hFOC8vVFIrLy8xM2o5b3I3YlBQUGtQUG5qMXgrUERoUzZwZjNlbXJPZ0FpSWlJaXVud3JWcXpBN3QyNzRlL3ZqNUVqUjJMdTNMbTQvZmJiM2RmdGRqczBUWVBSYUFRQXBLZW40OFNKRSs3ck9UazU3dTk3OU9pQndZTUhZOWV1WFdqYXRDa0FRRkVVR0kxR3ZQcnFxOGpJeUVCMmRqYXlzckp3L1BoeFpHUmtBQUJhdG15Sk9YUG1sSWhyN2RxMU1CcU51UFBPTzh2RW5KR1JnY1RFUk54Ly8vM1E2WFFlUFdkdWJpNU9uRGdCVGROS25NL096b2Fmbng4U0VoS1FsSlNFT25YcWxGdi9qei8rUUZaV1ZvWHROMnJVQ0VJSVRKczJyY0xrQ2dEOC9QelFxRkVqajJLdVRwZzhFQkVSRVYzbi92bm5IOHlhTlF1dFdyWENoQWtUOE95enoyTGd3SUdZTTJjT3dzUERBUUNUSjAvRzd0MjdzWHo1OGpMMU16TXpFUmNYVitiOHdJRUQzZC9mY3NzdFdMNThPZGFzV1lQYmJyc05qUm8xUW5oNE9BSURBeEVVRklTYmJyb0o5ZXZYQndCb21vYTh2RHhrWkdSZzA2Wk42TjY5TzRRUTdnVEZhRFJDVVJTc1hic1dMcGNMZDl4eEIwNmVQRm5tL3JWcjE0YkJZTUM1YytmY3ZScEZQUUkybXczZTN0NElEUTNGdG0zYk1IZnVYSHoxMVZkSVNFaEFSRVFFYXRldVhlNW45ZWFiYitMWFgzK3Q5RE5OVEV6RWdBRURLcnh1c1Znd2YvNzhTdHVwYnBnOEVCRVJFVjNIN0hZN3hvd1pBNTFPaDlkZmZ4MkJnWUdZUDM5K2lRUWlJaUxpZ20zNCtmbmh5eSsveEk0ZE85Q2tTUlBVckZuVGZlM2d3WVBJeWNuQkhYZmM0VDczK09PUG8ydlhyaFcyZC9qd1lmVHUzZHQ5dkh6NThoSkp5K0xGaXhFWkdZbHZ2dmtHQURCdTNMaHkyeWtxWjdQWk1HTEVpQkxYaGcwYkJnQjQ2cW1uOE1VWFg2QmZ2MzR3R0F6NCtlZWZFUkVSZ2ErKytxcE1lKzNidDhma3laT1JuNTlmNHZ5bm4zNktaY3VXb1gzNzloZzZkQ2owK3BLdnlNbkp5WWlPam9ZUXduM095OHVyd3VldnpwZzhFQkVSRVYybk5FM0RLNis4Z24zNzltSEdqQmtJREF3RUFBUUZCZUhERHovRVUwODloVUdEQnBVWlNsU2FvaWdJRFEzRnVISGpzSDM3ZG56d3dRZFFGQVYydXgyalI0K0cwK2xFdDI3ZExqcStIajE2SUNvcXluMjhmLzkrL1BlLy93VUEvUHJycnpoNDhDQ2VlT0lKUkVkSGw2aTNiZHMyZlBQTk56QVlEQUNBdUxnNDdOeTVFd0N3Y2VOR2pCa3pCcHMzYndZQS9PYy8vMEZVVkJUKy9lOS9ZL1BtemNqSnljRytmZnV3Yjk4K0FFQitmajUwT2gzMGVqMmFOR25pSG9ZRkFPZk9uY1BreVpPeGJkczJqQm8xcWtUQ1UrVHZ2Ly9HYTYrOWhoWXRXbURpeElrVjltamNLSmc4RUJFUkVWMkhuRTRuWG4vOWRXellzQUVqUjQ1RTI3WnRTMXdQQ2dyQ25EbHo4T3l6eitMY3VYT1Z0cWZYNnpGbHloVDA2OWNQaVltSmFOR2lCZWJPbll2MDlIUXNYTGpRUFZmaVlxaXFXcUtId3RmWDE1MDh6SnMzRDRHQmdSZzBhRkNaMytJZk8zWU1BR0F3R0NDbExMRmFVOUZFNmN6TVRNeWFOUXNuVDU3RWxDbFRJSVRBNnRXckVSRVJnU1ZMbHJqTFAvREFBK2phdFNzR0R4N3NQdmZQUC8vZ2swOCt3YnAxNjVDWGw0ZkhIMzhjUGo0K1dMbHlKVnd1RnpSTksvRjExMTEzWWZQbXpYajAwVWZ4eGh0dm9HWExsaGY5V1ZRWFRCNklpSWlJcmtPdnZmWWF2di8rZXpScjFneUJnWUZZdjM1OXVlWG16WnVIQmcwYTRQdnZ2Nit3clFVTEZzQm1zd0VBYnI3NVppeGF0QWlMRmkzQ3pwMDdVYmR1WFV5ZlBoMEE4T1NUVDE2UjJMZHYzdzZyMVlweDQ4YVZPL3luYU9VbGc4R0E4K2ZQbzBPSERtWEtQUERBQSs3dmUvYnNpV1hMbG1ITGxpMWxrcWl6WjgrVzZTMHdHbzFZdVhLbGU5TDFaNTk5Qmk4dkwrajFlaGdNQmhnTUJpaUtBcDFPQjBWUklJUkFhR2dvOHZMeU1IandZQXdZTUFBREJ3NHNNN3pwUm5EalBURVJFUkZSTmRDbFN4ZUVoSVJnMDZaTkdEMTZkSVhsNXMrZmp3WU5HbHl3clVhTkdrRlIvbjhGZnlrbE5FMURiR3hzaVhKRkwrRVRKMDdFNU1tVHkyM3I2YWVmTHZNQ1gxcnIxcTNSdUhGak5HellFTXVYTDBlUEhqMUtYQytlUEpoTUpuejU1WmNscm4veXlTZFl2MzQ5M25qakRmZUtSMnZXcklITDVjTCsvZnZkNVU2ZE9vVzh2RHpjZE5OTkplclhxVk1IcTFhdGdvK1BEL3o4L056RG95b2pwY1NYWDM2SlhidDJJVGMzRnlhVHlhTjYxUW1UQnlJaUlxTHJVSnMyYmRDbVRSdHMyclFKN2RxMXc3UnAwMHBjdDlsc0dEaHdJSHg4ZkNwdHExMjdkaVdPZCszYWhXZWZmUlpyMXF4QnZYcjF5cFIvNktHSFlEYWJBUUN6WjgvR3pUZmZqQWNmZkJBQTBMaHg0MHJ2cHlnSzJyZHZqK25UcDJQcDBxV29WYXRXaVJnY0RnZUFna25KT3AwTzN0N2U3a25PcTFldnh0cTFhL0hNTTgrNEU0YzZkZXBnMmJKbENBc0xRMnBxS3M2ZE80ZWFOV3U2NXowVW4rZFFKQzB0RFlNR0RhbzAxdEttVFp1R1BuMzZYSFM5Nm9MSkF4RVJFZEYxVGdoUlpnaE4wZHdBUHorL1N1dHJtb2JzN0d6M2NXNXVMb0NDdlJNeU16TUJGTHp3Ky9qNFFOTTBxS3FLenAwN0F5am9CUWdKQ1VHWExsM2M5WXZIWTF6RUFBQU9za2xFUVZTV1ZSMC9manpHang5ZjRYMkhEUnNHbTgyRzhlUEhZOUdpUmU3RW8yakg2YUllZ1pkZWVxbk1wbTN6NXMzRHZIbnpBQlJzZUdjMEd2SG1tMitpVjY5ZTJMbHpKN3AwNllMTm16ZWpZY1AvYSsvZWc2b3U5ejJPZjU0RnlDVkJQT1VOYndYZWFnNXNtTXFwTExmYXBNa2ZOQ1ZwNnRSTTZ1Uk1wR096S3pNMXV6bW5wSm05blp4cDFQU1lPZXlkRzJOaW12WlJTeXB6M0dNWGNLUHNKWnRNVDRnQ2dtU3dZRjFZei9uRFdBY1VaR0hDQXZiNzlZK3UzM3ArajkrZmYvSGg5enpQZDNSZ0kzbHJ6YzNOYW1wcVVsWldWcWR2WnFSTHk1K3lzN043WFRmc25rWjRBQUFBNklmT256OHZTVzJPWGUzSW1UTm5BbThPV252MDBVY0RmeDg3ZHF4MjdOZ2hTVUV2MTduYWFVdlNwWER3NXB0dmF0NjhlVnE1Y3FWMjdkcWxxS2lvd0p1SHlNaElTVkoyZHJiV3JGbWpzMmZQYXYzNjlVcEpTZEgzMzMrdmxTdFhLak16VTdObXpkS01HVE1VRVJHaDVPUms3ZG16UjFPblRsVkJRWUVXTEZodzFScnZ1dXN1M1hiYmJaMCtTMFZGaGJLenM0TjY3djZNOEFBQUFOQVAxTmJXeXVsMDZzWWJiNVMxVnJ0Mzc5YXdZY01VRnhmWDZiMGpSb3pRbmoxN0FwK1BIVHVtZGV2V2FjdVdMWUZPelJFUkVZRk8wc0hNS1YzOXRLVVdvMGFOMHZMbHk3Vmh3d2JsNStkcjd0eTU4bmc4Z2JjcEZ5NWMwS0pGaXpSOCtIRHQyclZMSTBhTTBLRkRoL1RDQ3k5bzhlTEZXcng0Y2FBK1Nab3paNDdXcmwyckRSczJxTEd4VVJrWkdWZXRjY21TSlczNk4rRHFDQThBQUFEOWdNdmwwckpseXdLZm82S2k5UHJycndkMWIzaDR1QklTRXJSbzBTSTk5ZFJUR2o1OHVDUnA0TUNCMnJScFUyQnBUMEZCZ2FSTGJ5R3VwN2x6NXlvaElVSDMzWGVmcEV0THJscmVPZ3dlUEZpdnZQS0tKaytlcktpb0tQM3l5eS9hc1dPSGhnNGRxcnE2T21WbFphbXNyRXg1ZVhtS2lZblJyRm16dEhuelp1WG41MnZod29XQlorbklNODg4bzlHalIzZGFZMjF0clY1NzdiWGYvckI5SE9FQkFBQ2dIeGc1Y3FSeWNuTGs4L25rY0RnMFpzd1kzWERERGNyUHo5Zjk5OSt2U1pNbUtTWW1wc1A3OC9MeTVIUTZOWHIwYU5YVTFFaTZ0Ri9pMUtsVFdyVnFsWGJ1M0tuaTRtSWxKaVpxNE1DQjE3VjJZMHdnT0VpWDlseTA3aXRSV2xxcW5UdDM2dlRwMDZxdHJaVWtEUm8wU0ZWVlZVcEpTZEZERHowVTJCamUrdDcyOWpwY2JzS0VDWm80Y1dLbjQ4NmRPOWVsWitxdkNBOEFBQUNTeG8wYkZ4Y1ZGWFh6c1dQSGprbnloN3FlcmpMR1hQRkRjRjFkblY1OTlWWDUvWDdObnorL3czdnI2K3UxYmRzMnBhZW42NVpiYmdtRWg0aUlDSzFidDA1UFB2bWtkdS9lcmIxNzkyckdqQm5kK2h3dDliUStKU282T2xySnljbDY1SkZITkg3OGVHM2N1RkhSMGRGNjY2MjMydHhYVjFlbkZTdFdxS0tpUXJObXpkSTc3N3lqSVVPR2FQYnMyUjMrVzB1WEx1MjI1K2lQQ0E4QUFBQ1NZbU5qYnpIR0ZLV2xwWlZZYTdQcjYrcy9LaXNydXhqcXVqcmpjRGdDemM0dTE5THpvTDJqU2hzYUdnSzlIVDcrK0dQVjE5Y3JLeXRMa3RyTWw1eWNySGZmZlZjMU5UVTZkKzVjbTAzVW5ibThIMFJIZGJibThYamtkRG8xYXRTb3dMV0ZDeGUyR2RQU3VLMjE0dUppclZtelJoY3VYTkNmL3ZRbjNYNzc3WXFPanRhYU5XdDA4dVJKTFYyNnROMm1ibSs4OFViZ3lOZXJxYXlzMUxQUFB0dW1IOGEvSThJREFBQkFLOGFZMjR3eC94MFhGL2QyYW1ycS8wamFiNHdwOVhnOEo0NGZQMTRiNnZvdWw1Q1FvRysrK1VZNU9UbHRsaE0xTkRRb056ZFhRNGNPVlZKU2tnNGVQQ2luMDZtR2hnWlZWbGJxMjIrL0RUUnpXN0JnZ2U2KysyNFZGaGJLNy9kcjM3NTlrdjUvWTNSaVlxSmVldWtsUGZqZ2d4b3paa3pRdFUyZE9sVVRKa3dJZlA3aGh4OENjMHVTMiszVzZ0V3JOV0xFQ01YR3hpb3NMRXhmZi8yMWFtcHFsSm1aMldhdS9QeDhOVFkyeWhpajQ4ZVBCOTZBMU5iV2F1dldyY3JOemRYSWtTTzFiZHMyalI4L1hwSzBldlZxUlVWRmFmdjI3VHB3NElEV3IxK3ZTWk1tdFpsMzdOaXhIUzVieXMzTmxjdmxVa3hNakE0ZlBpeEpRUjNyMnA4UkhnQUFBQzVqclpVeDVrYUh3N0hRV2p0ZlV2V0FBUU5LVTFOVHY3UFc1aDg5ZXZTZ3BGNXg0UC9UVHordGwxOStXUnMzYm16VGd5QThQRnhKU1VsYXUzYXRIQTZIaW9xS0FrZXRHbU9VbEpRVWFKSm1qRkZpWXFLeXM3TjE1TWdSUlVkSGEvSGl4WUdsUXcwTkRSbzVjdVJWTzFtM1o5cTBhVzFPVy9yc3M4L2FoSWZJeUVnNW5jN0FSdXlXdXRQVDAvWEVFMCswbWV2dzRjUDY2cXV2SkYzNmdiOWxHZGFKRXlmMDBVY2ZLVE16VTh1WEwyK3ozTW5oY09qNTU1L1h2ZmZlcTdmZmZydmRobmRYYy9Ub1VYMzY2YWVTcENGRGhtalpzbVVhTjI1Y2wrYm9iemlYQ2dDQWZpUXRMZTIvakRFdldtdi9VbGhZMlBFaWQxd2hMUzN0ZDhhWUl1bFNlR2pSM2pHZWZyKy8zQml6eGUxMmJ5MHBLYmxpSiszTmsxS255ZGcveDhYR0R0Lzh6aDkxMStRN3VyUDBvRmxyNWZmN1pZenAxdVUzUHA5UFZWVlZHang0Y0ZBZHJuMCtuOXh1dDd4ZXIrTGk0cnBjMi9uejV6dmRITzMzKzl2TTI5VFVwUEx5Y28wZVBUcHdzbE52OGZjajMycjVIMTVVZFUxTm5hd2VQdVVzK2lMVU5iWGd6UU1BQVAzVDROVFUxTlJRRjlHWCtQMytDV0ZoWVpMYUJvYldRYUtGdytFWUplbTF5TWpJRjlQUzBvNUkrcnZmN3o5aWpEbFdWRlQwcng0cXVjdU1NV3A1eHU3VWN2UnJWOGEzdHg4aFdNR2NxblI1SUltS2l2cTNmNHR3TFFnUEFBRDBROGFZdTQweGZ3NTFIWDJKdGJiZFh6KzNGeVJhL2pUR3hFaWFacTM5dmNQaGFEREcvQ3MxTmZWYnQ5ZityNnY1eXRBQjlIV0VCd0FBK3BkL1NtcVVORURTelNHdXBhL3A4bkx1WC9kR1hMclptR2hKRXgwT1I3akQwZXd4elN3UFIvOURlQUFBb0IrcHJxNys2MDAzM1hSVzBnMmhycVd2Y1RnY04wdjY0K1hYMjF1MkpGMTZJMkd0OVZoclQwbjZ3VnI3RDUvUDkybHhjZkZYbC9ZOGFFNDNsd3owT01JREFBRDlTSGw1ZVdONWVmbitVTmZSRi8yNllWclMxUVBEcjk5WCsvMytUeHdPUjE1emMvTUpZMHhWVVZGUlhZOFZDNFFJNFFFQUFLQWRyWUtDTmNiNEpEWDUvZjZqa3Q0TkN3djc2M2ZmZmVjTmFZRkFDQkFlQUFBQUx2UHJraVNYTWNacHJTMlI5STIxOW0rOStTU2x2cXl3c0ZCbno1N3QwajNHR00yZVBidWJLa0pIQ0E4QUFBQ3RXR3RQUy9xTHBQM1cyaktQeDNPMnBLVEVFK3E2ZWd1bjA2blBQLy84bXUrUGo0L1h3b1VMMjF6THljblJnUU1IdWpTUHcrRWdQSVFBNFFFQUFFQlNZMk5qZVhSMDlPOExDd3NQU1dvT2RUMjlWV2xwcWJadjMzN045NDhhTmVxSzhDQkp0OTU2YTZBRGRtZTJiOSt1clZ1M1huTU51SGFFQndBQUFFbE9wN05HMGxlaHJxTzN5OGpJVUVaR1JydmZWVlpXS2owOVhmUG56OWR6enozWHBYbGRMcGVLaTR1REdsdFZWZFdsdVhIOUVCNEFBQUFRY3FkUG45YVNKVXVDSG45NXgyajBETUlEQUFBQVFtN2l4SWw2NzczM2docjcvdnZ2LzZhbFU3aDJoQWNBQUFDRW5OdnQxcWxUcDRJYVcxZEhTNDFRSVR3QUFBQWc1RTZkT3FYSEgzODg2UEVzV3dvTndnTUFBQUJDYnNLRUNkcXlaVXRRWTNmdTNCbjB5VXk0dmdnUEFBQUFDRG1mejZmS3lzcWd4alkwTkhSek5lZ0k0UUVBQUFBaGQvTGtTYzJiTnkvbzhTeGJDZzNDQXdBQUFFSnUvUGp4MnJScFUxQmpjM0p5OU1FSEgzUnpSV2dQNFFFQUFBQTl6dTEyQjA1TmNydmRrcVRtNXVBYWUxdHJKU213ekNrbUprYXhzYkhkVUNVdVIzZ0FBQUJBanp0eTVJaFdyRmpSNWxwNmVucVg1bWdaUDNmdVhLMWN1Zks2MVlhT0VSNEFBQURRNDVLVGs3VjU4K1lycnZ0OFBwMDVjMFpqeDQ1dGM3MjJ0bGJ4OGZIdDduVVlPblJvdDlXSnRnZ1BBQUFBQ01wUFAvMmtzckt5RHIvLytlZWZKVW5sNWVVcUtDam9jTnlBQVFNMFpjb1UzWEhISFlGcmRYVjEyck5uajNidjNpMlh5NlVQUC94UUNRa0prcVNtcGlabFptYXFzYkZSMDZkUDE0d1pNelI1OG1TRmgvT2piRS9qZnh3QUFBQkJLU2dvME1hTkd6c2RkL0RnUVIwOGVMREQ3d2NOR3FRREJ3N0k2L1hxMEtGRDJydDNyNzc0NGd0NVBCN2RlZWVkZXV5eHh6UjgrUERBK1BEd2NLMWF0VXI3OSsvWHZuMzdsSmVYcC9qNGVEM3d3QU5LVDA5WFNrcktkWGsrZEk3d0FBQUFnS0JrWkdUb25udnUrYzN6aEllSHkxcXIrZlBuNjhjZmY5U2dRWVAwOE1NUGE4NmNPVXBLU21wMy9KUXBVelJseWhTdFdyVktYMzc1cGZMejg1V2JtNnU4dkR6bDUrZHIyTEJodjdrdWRJN3dBQUFBZ0tERXg4Y3JQajcrdXMyWGxaVWxuOCtuYWRPbUtTSWlJcWg3SWlNak5YUG1UTTJjT1ZNVkZSVXFLU2toT1BRZ3dnTUFBQUJDWXZyMDZiL3Avb1NFaE1DK0NQUU1Xdk1CQUFBQUNBcmhBUUFBQUVCUUNBOEFBQUFBZ2tKNEFBQUFBQkFVd2dNQUFBQ0FvQkFlQUFBQUFBU0Y4QUFBQUFBZ0tJUUhBQUFBQUVFaFBBQUFBQUFJQ3VFQkFBQUFRRkFJRHdBQUFBQ0NRbmdBQUFDNHpwcXRyOTVJWG4relh5NlhLOVRsb0k5eHVWenlOZnNrcStabTY2c1BkVDJ0RVI0QUFBQ3VNMnM5WjJYVjZQRjZWVlY5UHRUbG9JK3BxajZ2cGlhM0pMbXQ5WndOZFQydEVSNEFBQUN1cy9MUzBrb3JOWGk5WHYzelJLbWFtcHBDWFJMNkNJL0hxeExuQ2JuZGJrbldYVjVhV2hucW1sb2pQQUFBQUZ4L1Bsbi9oOVphLzhlZmZLcHZ2aTlTWTFPVHJMV2hyZ3U5bExWV1RVMU5LajVlb3J5UFA1SGY3L2RMOW4xSnZsRFgxcG9KZFFFQUFBRDlVVUpDUXN5QXVLRi9NMFpUNCtKaU5YM3FmZnBkeW45cVpNSUl4UTRjR09yeTBJdjhVbCt2TTJjcVZIeThSSjkvY1ZBWEwxNlUzOXBEM292Vk15c3FLbnJWcGhuQ0F3QUFRRGRKbUpneU1VTG1QV04wanpIR01TQWlRakV4TVFvUER3OTFhZWhGdkQ2dlhLNUdlYjFlV1d1dHJMNzJxZm1aOGhQSC9oSHEyaTVIZUFBQUFPaEdneE1UQjhVTmlIM0RZZlNRbFNJa0V5RXBMTlIxb1ZkcGxxelhTRjYvN041ZnZLNC8xSmFWWFF4MVVlMGhQQUFBQVBTQUlVTnVHeGp6SCtGRC9MYjVwakJIeEEyaHJnZTloODl2WFdIR1ZydHFmZFhWMVNXOTZtaFd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XRPdi9BRXF6WTZ0WWlNelZBQUFBQUVsRlRrU3VRbUNDIiwKCSJUaGVtZSIgOiAiIiwKCSJUeXBlIiA6ICJmbG93IiwKCSJVc2VySWQiIDogIjE2MDgwNDQ3MDAiLAoJIlZlcnNpb24iIDogIjIzIgp9Cg=="/>
    </extobj>
  </extobjs>
</s:customData>
</file>

<file path=customXml/itemProps35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全屏显示(16:9)</PresentationFormat>
  <Paragraphs>265</Paragraphs>
  <Slides>19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Wingdings</vt:lpstr>
      <vt:lpstr>Calibri</vt:lpstr>
      <vt:lpstr>黑体</vt:lpstr>
      <vt:lpstr>仿宋</vt:lpstr>
      <vt:lpstr>Arial Unicode MS</vt:lpstr>
      <vt:lpstr>Calibri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ns2="http://purl.org/dc/terms/" xmlns:xsi="http://www.w3.org/2001/XMLSchema-instance">
  <dc:title>GeoBot WebGIS-AI 答辩PPT</dc:title>
  <dc:creator>Administrator</dc:creator>
  <cp:lastModifiedBy>张程祎</cp:lastModifiedBy>
  <cp:revision>355</cp:revision>
  <ns2:created xsi:type="dcterms:W3CDTF">2016-07-13T14:16:00Z</ns2:created>
  <ns2:modified xsi:type="dcterms:W3CDTF">2026-05-05T05:46:19Z</ns2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1CD69CF287E84104AABFBE482196303B_13</vt:lpwstr>
  </property>
  <property fmtid="{D5CDD505-2E9C-101B-9397-08002B2CF9AE}" pid="3" name="KSOProductBuildVer">
    <vt:lpwstr>2052-12.1.0.20305</vt:lpwstr>
  </property>
</Properties>
</file>